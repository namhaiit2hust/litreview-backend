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9" r:id="rId4"/>
    <p:sldId id="260" r:id="rId5"/>
    <p:sldId id="261"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0122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8.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8015329" y="525198"/>
            <a:ext cx="1043464" cy="378825"/>
          </a:xfrm>
          <a:prstGeom prst="line">
            <a:avLst/>
          </a:prstGeom>
          <a:noFill/>
          <a:ln w="9525">
            <a:solidFill>
              <a:srgbClr val="D8E1F0">
                <a:alpha val="60000"/>
              </a:srgbClr>
            </a:solidFill>
            <a:prstDash val="solid"/>
          </a:ln>
        </p:spPr>
        <p:txBody>
          <a:bodyPr/>
          <a:lstStyle/>
          <a:p>
            <a:endParaRPr lang="en-US"/>
          </a:p>
        </p:txBody>
      </p:sp>
      <p:sp>
        <p:nvSpPr>
          <p:cNvPr id="3" name="Shape 1"/>
          <p:cNvSpPr/>
          <p:nvPr/>
        </p:nvSpPr>
        <p:spPr>
          <a:xfrm>
            <a:off x="8015329" y="525198"/>
            <a:ext cx="1622842" cy="411927"/>
          </a:xfrm>
          <a:prstGeom prst="line">
            <a:avLst/>
          </a:prstGeom>
          <a:noFill/>
          <a:ln w="9525">
            <a:solidFill>
              <a:srgbClr val="D8E1F0">
                <a:alpha val="60000"/>
              </a:srgbClr>
            </a:solidFill>
            <a:prstDash val="solid"/>
          </a:ln>
        </p:spPr>
        <p:txBody>
          <a:bodyPr/>
          <a:lstStyle/>
          <a:p>
            <a:endParaRPr lang="en-US"/>
          </a:p>
        </p:txBody>
      </p:sp>
      <p:sp>
        <p:nvSpPr>
          <p:cNvPr id="4" name="Shape 2"/>
          <p:cNvSpPr/>
          <p:nvPr/>
        </p:nvSpPr>
        <p:spPr>
          <a:xfrm>
            <a:off x="6930002" y="525198"/>
            <a:ext cx="1085326" cy="58003"/>
          </a:xfrm>
          <a:prstGeom prst="line">
            <a:avLst/>
          </a:prstGeom>
          <a:noFill/>
          <a:ln w="9525">
            <a:solidFill>
              <a:srgbClr val="D8E1F0">
                <a:alpha val="60000"/>
              </a:srgbClr>
            </a:solidFill>
            <a:prstDash val="solid"/>
          </a:ln>
        </p:spPr>
        <p:txBody>
          <a:bodyPr/>
          <a:lstStyle/>
          <a:p>
            <a:endParaRPr lang="en-US"/>
          </a:p>
        </p:txBody>
      </p:sp>
      <p:sp>
        <p:nvSpPr>
          <p:cNvPr id="5" name="Shape 3"/>
          <p:cNvSpPr/>
          <p:nvPr/>
        </p:nvSpPr>
        <p:spPr>
          <a:xfrm>
            <a:off x="5367523" y="517437"/>
            <a:ext cx="572949" cy="690945"/>
          </a:xfrm>
          <a:prstGeom prst="line">
            <a:avLst/>
          </a:prstGeom>
          <a:noFill/>
          <a:ln w="9525">
            <a:solidFill>
              <a:srgbClr val="D8E1F0">
                <a:alpha val="60000"/>
              </a:srgbClr>
            </a:solidFill>
            <a:prstDash val="solid"/>
          </a:ln>
        </p:spPr>
        <p:txBody>
          <a:bodyPr/>
          <a:lstStyle/>
          <a:p>
            <a:endParaRPr lang="en-US"/>
          </a:p>
        </p:txBody>
      </p:sp>
      <p:sp>
        <p:nvSpPr>
          <p:cNvPr id="6" name="Shape 4"/>
          <p:cNvSpPr/>
          <p:nvPr/>
        </p:nvSpPr>
        <p:spPr>
          <a:xfrm>
            <a:off x="11449469" y="6075833"/>
            <a:ext cx="340696" cy="575645"/>
          </a:xfrm>
          <a:prstGeom prst="line">
            <a:avLst/>
          </a:prstGeom>
          <a:noFill/>
          <a:ln w="9525">
            <a:solidFill>
              <a:srgbClr val="D8E1F0">
                <a:alpha val="60000"/>
              </a:srgbClr>
            </a:solidFill>
            <a:prstDash val="solid"/>
          </a:ln>
        </p:spPr>
        <p:txBody>
          <a:bodyPr/>
          <a:lstStyle/>
          <a:p>
            <a:endParaRPr lang="en-US"/>
          </a:p>
        </p:txBody>
      </p:sp>
      <p:sp>
        <p:nvSpPr>
          <p:cNvPr id="7" name="Shape 5"/>
          <p:cNvSpPr/>
          <p:nvPr/>
        </p:nvSpPr>
        <p:spPr>
          <a:xfrm>
            <a:off x="4027994" y="529167"/>
            <a:ext cx="353814" cy="524169"/>
          </a:xfrm>
          <a:prstGeom prst="line">
            <a:avLst/>
          </a:prstGeom>
          <a:noFill/>
          <a:ln w="9525">
            <a:solidFill>
              <a:srgbClr val="D8E1F0">
                <a:alpha val="60000"/>
              </a:srgbClr>
            </a:solidFill>
            <a:prstDash val="solid"/>
          </a:ln>
        </p:spPr>
        <p:txBody>
          <a:bodyPr/>
          <a:lstStyle/>
          <a:p>
            <a:endParaRPr lang="en-US"/>
          </a:p>
        </p:txBody>
      </p:sp>
      <p:sp>
        <p:nvSpPr>
          <p:cNvPr id="8" name="Shape 6"/>
          <p:cNvSpPr/>
          <p:nvPr/>
        </p:nvSpPr>
        <p:spPr>
          <a:xfrm>
            <a:off x="9252163" y="4477073"/>
            <a:ext cx="1798442" cy="172038"/>
          </a:xfrm>
          <a:prstGeom prst="line">
            <a:avLst/>
          </a:prstGeom>
          <a:noFill/>
          <a:ln w="9525">
            <a:solidFill>
              <a:srgbClr val="D8E1F0">
                <a:alpha val="60000"/>
              </a:srgbClr>
            </a:solidFill>
            <a:prstDash val="solid"/>
          </a:ln>
        </p:spPr>
        <p:txBody>
          <a:bodyPr/>
          <a:lstStyle/>
          <a:p>
            <a:endParaRPr lang="en-US"/>
          </a:p>
        </p:txBody>
      </p:sp>
      <p:sp>
        <p:nvSpPr>
          <p:cNvPr id="9" name="Shape 7"/>
          <p:cNvSpPr/>
          <p:nvPr/>
        </p:nvSpPr>
        <p:spPr>
          <a:xfrm>
            <a:off x="10926849" y="1813719"/>
            <a:ext cx="718394" cy="414690"/>
          </a:xfrm>
          <a:prstGeom prst="line">
            <a:avLst/>
          </a:prstGeom>
          <a:noFill/>
          <a:ln w="9525">
            <a:solidFill>
              <a:srgbClr val="D8E1F0">
                <a:alpha val="60000"/>
              </a:srgbClr>
            </a:solidFill>
            <a:prstDash val="solid"/>
          </a:ln>
        </p:spPr>
        <p:txBody>
          <a:bodyPr/>
          <a:lstStyle/>
          <a:p>
            <a:endParaRPr lang="en-US"/>
          </a:p>
        </p:txBody>
      </p:sp>
      <p:sp>
        <p:nvSpPr>
          <p:cNvPr id="10" name="Shape 8"/>
          <p:cNvSpPr/>
          <p:nvPr/>
        </p:nvSpPr>
        <p:spPr>
          <a:xfrm>
            <a:off x="10121908" y="1223345"/>
            <a:ext cx="1523335" cy="1005064"/>
          </a:xfrm>
          <a:prstGeom prst="line">
            <a:avLst/>
          </a:prstGeom>
          <a:noFill/>
          <a:ln w="9525">
            <a:solidFill>
              <a:srgbClr val="D8E1F0">
                <a:alpha val="60000"/>
              </a:srgbClr>
            </a:solidFill>
            <a:prstDash val="solid"/>
          </a:ln>
        </p:spPr>
        <p:txBody>
          <a:bodyPr/>
          <a:lstStyle/>
          <a:p>
            <a:endParaRPr lang="en-US"/>
          </a:p>
        </p:txBody>
      </p:sp>
      <p:sp>
        <p:nvSpPr>
          <p:cNvPr id="11" name="Shape 9"/>
          <p:cNvSpPr/>
          <p:nvPr/>
        </p:nvSpPr>
        <p:spPr>
          <a:xfrm>
            <a:off x="10221886" y="1813719"/>
            <a:ext cx="704963" cy="1277379"/>
          </a:xfrm>
          <a:prstGeom prst="line">
            <a:avLst/>
          </a:prstGeom>
          <a:noFill/>
          <a:ln w="9525">
            <a:solidFill>
              <a:srgbClr val="D8E1F0">
                <a:alpha val="60000"/>
              </a:srgbClr>
            </a:solidFill>
            <a:prstDash val="solid"/>
          </a:ln>
        </p:spPr>
        <p:txBody>
          <a:bodyPr/>
          <a:lstStyle/>
          <a:p>
            <a:endParaRPr lang="en-US"/>
          </a:p>
        </p:txBody>
      </p:sp>
      <p:sp>
        <p:nvSpPr>
          <p:cNvPr id="12" name="Shape 10"/>
          <p:cNvSpPr/>
          <p:nvPr/>
        </p:nvSpPr>
        <p:spPr>
          <a:xfrm>
            <a:off x="9539029" y="3091098"/>
            <a:ext cx="682856" cy="353189"/>
          </a:xfrm>
          <a:prstGeom prst="line">
            <a:avLst/>
          </a:prstGeom>
          <a:noFill/>
          <a:ln w="9525">
            <a:solidFill>
              <a:srgbClr val="D8E1F0">
                <a:alpha val="60000"/>
              </a:srgbClr>
            </a:solidFill>
            <a:prstDash val="solid"/>
          </a:ln>
        </p:spPr>
        <p:txBody>
          <a:bodyPr/>
          <a:lstStyle/>
          <a:p>
            <a:endParaRPr lang="en-US"/>
          </a:p>
        </p:txBody>
      </p:sp>
      <p:sp>
        <p:nvSpPr>
          <p:cNvPr id="13" name="Shape 11"/>
          <p:cNvSpPr/>
          <p:nvPr/>
        </p:nvSpPr>
        <p:spPr>
          <a:xfrm>
            <a:off x="9058793" y="198584"/>
            <a:ext cx="1317213" cy="705438"/>
          </a:xfrm>
          <a:prstGeom prst="line">
            <a:avLst/>
          </a:prstGeom>
          <a:noFill/>
          <a:ln w="9525">
            <a:solidFill>
              <a:srgbClr val="D8E1F0">
                <a:alpha val="60000"/>
              </a:srgbClr>
            </a:solidFill>
            <a:prstDash val="solid"/>
          </a:ln>
        </p:spPr>
        <p:txBody>
          <a:bodyPr/>
          <a:lstStyle/>
          <a:p>
            <a:endParaRPr lang="en-US"/>
          </a:p>
        </p:txBody>
      </p:sp>
      <p:sp>
        <p:nvSpPr>
          <p:cNvPr id="14" name="Shape 12"/>
          <p:cNvSpPr/>
          <p:nvPr/>
        </p:nvSpPr>
        <p:spPr>
          <a:xfrm>
            <a:off x="4030451" y="188648"/>
            <a:ext cx="1347577" cy="424656"/>
          </a:xfrm>
          <a:prstGeom prst="line">
            <a:avLst/>
          </a:prstGeom>
          <a:noFill/>
          <a:ln w="9525">
            <a:solidFill>
              <a:srgbClr val="D8E1F0">
                <a:alpha val="60000"/>
              </a:srgbClr>
            </a:solidFill>
            <a:prstDash val="solid"/>
          </a:ln>
        </p:spPr>
        <p:txBody>
          <a:bodyPr/>
          <a:lstStyle/>
          <a:p>
            <a:endParaRPr lang="en-US"/>
          </a:p>
        </p:txBody>
      </p:sp>
      <p:sp>
        <p:nvSpPr>
          <p:cNvPr id="15" name="Shape 13"/>
          <p:cNvSpPr/>
          <p:nvPr/>
        </p:nvSpPr>
        <p:spPr>
          <a:xfrm>
            <a:off x="5378028" y="613304"/>
            <a:ext cx="621501" cy="963436"/>
          </a:xfrm>
          <a:prstGeom prst="line">
            <a:avLst/>
          </a:prstGeom>
          <a:noFill/>
          <a:ln w="9525">
            <a:solidFill>
              <a:srgbClr val="D8E1F0">
                <a:alpha val="60000"/>
              </a:srgbClr>
            </a:solidFill>
            <a:prstDash val="solid"/>
          </a:ln>
        </p:spPr>
        <p:txBody>
          <a:bodyPr/>
          <a:lstStyle/>
          <a:p>
            <a:endParaRPr lang="en-US"/>
          </a:p>
        </p:txBody>
      </p:sp>
      <p:sp>
        <p:nvSpPr>
          <p:cNvPr id="16" name="Shape 14"/>
          <p:cNvSpPr/>
          <p:nvPr/>
        </p:nvSpPr>
        <p:spPr>
          <a:xfrm>
            <a:off x="10121908" y="1223345"/>
            <a:ext cx="804940" cy="590374"/>
          </a:xfrm>
          <a:prstGeom prst="line">
            <a:avLst/>
          </a:prstGeom>
          <a:noFill/>
          <a:ln w="9525">
            <a:solidFill>
              <a:srgbClr val="D8E1F0">
                <a:alpha val="60000"/>
              </a:srgbClr>
            </a:solidFill>
            <a:prstDash val="solid"/>
          </a:ln>
        </p:spPr>
        <p:txBody>
          <a:bodyPr/>
          <a:lstStyle/>
          <a:p>
            <a:endParaRPr lang="en-US"/>
          </a:p>
        </p:txBody>
      </p:sp>
      <p:sp>
        <p:nvSpPr>
          <p:cNvPr id="17" name="Shape 15"/>
          <p:cNvSpPr/>
          <p:nvPr/>
        </p:nvSpPr>
        <p:spPr>
          <a:xfrm>
            <a:off x="10926849" y="719049"/>
            <a:ext cx="48290" cy="1094669"/>
          </a:xfrm>
          <a:prstGeom prst="line">
            <a:avLst/>
          </a:prstGeom>
          <a:noFill/>
          <a:ln w="9525">
            <a:solidFill>
              <a:srgbClr val="D8E1F0">
                <a:alpha val="60000"/>
              </a:srgbClr>
            </a:solidFill>
            <a:prstDash val="solid"/>
          </a:ln>
        </p:spPr>
        <p:txBody>
          <a:bodyPr/>
          <a:lstStyle/>
          <a:p>
            <a:endParaRPr lang="en-US"/>
          </a:p>
        </p:txBody>
      </p:sp>
      <p:sp>
        <p:nvSpPr>
          <p:cNvPr id="18" name="Shape 16"/>
          <p:cNvSpPr/>
          <p:nvPr/>
        </p:nvSpPr>
        <p:spPr>
          <a:xfrm>
            <a:off x="10376006" y="198584"/>
            <a:ext cx="550842" cy="1615134"/>
          </a:xfrm>
          <a:prstGeom prst="line">
            <a:avLst/>
          </a:prstGeom>
          <a:noFill/>
          <a:ln w="9525">
            <a:solidFill>
              <a:srgbClr val="D8E1F0">
                <a:alpha val="60000"/>
              </a:srgbClr>
            </a:solidFill>
            <a:prstDash val="solid"/>
          </a:ln>
        </p:spPr>
        <p:txBody>
          <a:bodyPr/>
          <a:lstStyle/>
          <a:p>
            <a:endParaRPr lang="en-US"/>
          </a:p>
        </p:txBody>
      </p:sp>
      <p:sp>
        <p:nvSpPr>
          <p:cNvPr id="19" name="Shape 17"/>
          <p:cNvSpPr/>
          <p:nvPr/>
        </p:nvSpPr>
        <p:spPr>
          <a:xfrm>
            <a:off x="10601726" y="719049"/>
            <a:ext cx="373412" cy="857103"/>
          </a:xfrm>
          <a:prstGeom prst="line">
            <a:avLst/>
          </a:prstGeom>
          <a:noFill/>
          <a:ln w="9525">
            <a:solidFill>
              <a:srgbClr val="D8E1F0">
                <a:alpha val="60000"/>
              </a:srgbClr>
            </a:solidFill>
            <a:prstDash val="solid"/>
          </a:ln>
        </p:spPr>
        <p:txBody>
          <a:bodyPr/>
          <a:lstStyle/>
          <a:p>
            <a:endParaRPr lang="en-US"/>
          </a:p>
        </p:txBody>
      </p:sp>
      <p:sp>
        <p:nvSpPr>
          <p:cNvPr id="20" name="Shape 18"/>
          <p:cNvSpPr/>
          <p:nvPr/>
        </p:nvSpPr>
        <p:spPr>
          <a:xfrm>
            <a:off x="10128023" y="4950384"/>
            <a:ext cx="630333" cy="832526"/>
          </a:xfrm>
          <a:prstGeom prst="line">
            <a:avLst/>
          </a:prstGeom>
          <a:noFill/>
          <a:ln w="9525">
            <a:solidFill>
              <a:srgbClr val="D8E1F0">
                <a:alpha val="60000"/>
              </a:srgbClr>
            </a:solidFill>
            <a:prstDash val="solid"/>
          </a:ln>
        </p:spPr>
        <p:txBody>
          <a:bodyPr/>
          <a:lstStyle/>
          <a:p>
            <a:endParaRPr lang="en-US"/>
          </a:p>
        </p:txBody>
      </p:sp>
      <p:sp>
        <p:nvSpPr>
          <p:cNvPr id="21" name="Shape 19"/>
          <p:cNvSpPr/>
          <p:nvPr/>
        </p:nvSpPr>
        <p:spPr>
          <a:xfrm>
            <a:off x="9638171" y="719049"/>
            <a:ext cx="1336968" cy="218075"/>
          </a:xfrm>
          <a:prstGeom prst="line">
            <a:avLst/>
          </a:prstGeom>
          <a:noFill/>
          <a:ln w="9525">
            <a:solidFill>
              <a:srgbClr val="D8E1F0">
                <a:alpha val="60000"/>
              </a:srgbClr>
            </a:solidFill>
            <a:prstDash val="solid"/>
          </a:ln>
        </p:spPr>
        <p:txBody>
          <a:bodyPr/>
          <a:lstStyle/>
          <a:p>
            <a:endParaRPr lang="en-US"/>
          </a:p>
        </p:txBody>
      </p:sp>
      <p:sp>
        <p:nvSpPr>
          <p:cNvPr id="22" name="Shape 20"/>
          <p:cNvSpPr/>
          <p:nvPr/>
        </p:nvSpPr>
        <p:spPr>
          <a:xfrm>
            <a:off x="8015329" y="525198"/>
            <a:ext cx="38802" cy="38802"/>
          </a:xfrm>
          <a:prstGeom prst="ellipse">
            <a:avLst/>
          </a:prstGeom>
          <a:solidFill>
            <a:srgbClr val="6366F1">
              <a:alpha val="45000"/>
            </a:srgbClr>
          </a:solidFill>
          <a:ln/>
        </p:spPr>
        <p:txBody>
          <a:bodyPr/>
          <a:lstStyle/>
          <a:p>
            <a:endParaRPr lang="en-US"/>
          </a:p>
        </p:txBody>
      </p:sp>
      <p:sp>
        <p:nvSpPr>
          <p:cNvPr id="23" name="Shape 21"/>
          <p:cNvSpPr/>
          <p:nvPr/>
        </p:nvSpPr>
        <p:spPr>
          <a:xfrm>
            <a:off x="5940472" y="1208381"/>
            <a:ext cx="20348" cy="20348"/>
          </a:xfrm>
          <a:prstGeom prst="ellipse">
            <a:avLst/>
          </a:prstGeom>
          <a:solidFill>
            <a:srgbClr val="10B981">
              <a:alpha val="45000"/>
            </a:srgbClr>
          </a:solidFill>
          <a:ln/>
        </p:spPr>
        <p:txBody>
          <a:bodyPr/>
          <a:lstStyle/>
          <a:p>
            <a:endParaRPr lang="en-US"/>
          </a:p>
        </p:txBody>
      </p:sp>
      <p:sp>
        <p:nvSpPr>
          <p:cNvPr id="24" name="Shape 22"/>
          <p:cNvSpPr/>
          <p:nvPr/>
        </p:nvSpPr>
        <p:spPr>
          <a:xfrm>
            <a:off x="11449469" y="6651478"/>
            <a:ext cx="23257" cy="23257"/>
          </a:xfrm>
          <a:prstGeom prst="ellipse">
            <a:avLst/>
          </a:prstGeom>
          <a:solidFill>
            <a:srgbClr val="8B5CF6">
              <a:alpha val="45000"/>
            </a:srgbClr>
          </a:solidFill>
          <a:ln/>
        </p:spPr>
        <p:txBody>
          <a:bodyPr/>
          <a:lstStyle/>
          <a:p>
            <a:endParaRPr lang="en-US"/>
          </a:p>
        </p:txBody>
      </p:sp>
      <p:sp>
        <p:nvSpPr>
          <p:cNvPr id="25" name="Shape 23"/>
          <p:cNvSpPr/>
          <p:nvPr/>
        </p:nvSpPr>
        <p:spPr>
          <a:xfrm>
            <a:off x="5415866" y="6554200"/>
            <a:ext cx="26071" cy="26071"/>
          </a:xfrm>
          <a:prstGeom prst="ellipse">
            <a:avLst/>
          </a:prstGeom>
          <a:solidFill>
            <a:srgbClr val="6366F1">
              <a:alpha val="45000"/>
            </a:srgbClr>
          </a:solidFill>
          <a:ln/>
        </p:spPr>
        <p:txBody>
          <a:bodyPr/>
          <a:lstStyle/>
          <a:p>
            <a:endParaRPr lang="en-US"/>
          </a:p>
        </p:txBody>
      </p:sp>
      <p:sp>
        <p:nvSpPr>
          <p:cNvPr id="26" name="Shape 24"/>
          <p:cNvSpPr/>
          <p:nvPr/>
        </p:nvSpPr>
        <p:spPr>
          <a:xfrm>
            <a:off x="2077313" y="6759369"/>
            <a:ext cx="36626" cy="36626"/>
          </a:xfrm>
          <a:prstGeom prst="ellipse">
            <a:avLst/>
          </a:prstGeom>
          <a:solidFill>
            <a:srgbClr val="10B981">
              <a:alpha val="45000"/>
            </a:srgbClr>
          </a:solidFill>
          <a:ln/>
        </p:spPr>
        <p:txBody>
          <a:bodyPr/>
          <a:lstStyle/>
          <a:p>
            <a:endParaRPr lang="en-US"/>
          </a:p>
        </p:txBody>
      </p:sp>
      <p:sp>
        <p:nvSpPr>
          <p:cNvPr id="27" name="Shape 25"/>
          <p:cNvSpPr/>
          <p:nvPr/>
        </p:nvSpPr>
        <p:spPr>
          <a:xfrm>
            <a:off x="4027994" y="1053336"/>
            <a:ext cx="50089" cy="50089"/>
          </a:xfrm>
          <a:prstGeom prst="ellipse">
            <a:avLst/>
          </a:prstGeom>
          <a:solidFill>
            <a:srgbClr val="8B5CF6">
              <a:alpha val="45000"/>
            </a:srgbClr>
          </a:solidFill>
          <a:ln/>
        </p:spPr>
        <p:txBody>
          <a:bodyPr/>
          <a:lstStyle/>
          <a:p>
            <a:endParaRPr lang="en-US"/>
          </a:p>
        </p:txBody>
      </p:sp>
      <p:sp>
        <p:nvSpPr>
          <p:cNvPr id="28" name="Shape 26"/>
          <p:cNvSpPr/>
          <p:nvPr/>
        </p:nvSpPr>
        <p:spPr>
          <a:xfrm>
            <a:off x="9252163" y="4477073"/>
            <a:ext cx="23884" cy="23884"/>
          </a:xfrm>
          <a:prstGeom prst="ellipse">
            <a:avLst/>
          </a:prstGeom>
          <a:solidFill>
            <a:srgbClr val="6366F1">
              <a:alpha val="45000"/>
            </a:srgbClr>
          </a:solidFill>
          <a:ln/>
        </p:spPr>
        <p:txBody>
          <a:bodyPr/>
          <a:lstStyle/>
          <a:p>
            <a:endParaRPr lang="en-US"/>
          </a:p>
        </p:txBody>
      </p:sp>
      <p:sp>
        <p:nvSpPr>
          <p:cNvPr id="29" name="Shape 27"/>
          <p:cNvSpPr/>
          <p:nvPr/>
        </p:nvSpPr>
        <p:spPr>
          <a:xfrm>
            <a:off x="1099542" y="326790"/>
            <a:ext cx="35252" cy="35252"/>
          </a:xfrm>
          <a:prstGeom prst="ellipse">
            <a:avLst/>
          </a:prstGeom>
          <a:solidFill>
            <a:srgbClr val="10B981">
              <a:alpha val="45000"/>
            </a:srgbClr>
          </a:solidFill>
          <a:ln/>
        </p:spPr>
        <p:txBody>
          <a:bodyPr/>
          <a:lstStyle/>
          <a:p>
            <a:endParaRPr lang="en-US"/>
          </a:p>
        </p:txBody>
      </p:sp>
      <p:sp>
        <p:nvSpPr>
          <p:cNvPr id="30" name="Shape 28"/>
          <p:cNvSpPr/>
          <p:nvPr/>
        </p:nvSpPr>
        <p:spPr>
          <a:xfrm>
            <a:off x="11645243" y="2228409"/>
            <a:ext cx="36322" cy="36322"/>
          </a:xfrm>
          <a:prstGeom prst="ellipse">
            <a:avLst/>
          </a:prstGeom>
          <a:solidFill>
            <a:srgbClr val="8B5CF6">
              <a:alpha val="45000"/>
            </a:srgbClr>
          </a:solidFill>
          <a:ln/>
        </p:spPr>
        <p:txBody>
          <a:bodyPr/>
          <a:lstStyle/>
          <a:p>
            <a:endParaRPr lang="en-US"/>
          </a:p>
        </p:txBody>
      </p:sp>
      <p:sp>
        <p:nvSpPr>
          <p:cNvPr id="31" name="Shape 29"/>
          <p:cNvSpPr/>
          <p:nvPr/>
        </p:nvSpPr>
        <p:spPr>
          <a:xfrm>
            <a:off x="10221886" y="3091098"/>
            <a:ext cx="36365" cy="36365"/>
          </a:xfrm>
          <a:prstGeom prst="ellipse">
            <a:avLst/>
          </a:prstGeom>
          <a:solidFill>
            <a:srgbClr val="6366F1">
              <a:alpha val="45000"/>
            </a:srgbClr>
          </a:solidFill>
          <a:ln/>
        </p:spPr>
        <p:txBody>
          <a:bodyPr/>
          <a:lstStyle/>
          <a:p>
            <a:endParaRPr lang="en-US"/>
          </a:p>
        </p:txBody>
      </p:sp>
      <p:sp>
        <p:nvSpPr>
          <p:cNvPr id="32" name="Shape 30"/>
          <p:cNvSpPr/>
          <p:nvPr/>
        </p:nvSpPr>
        <p:spPr>
          <a:xfrm>
            <a:off x="9058793" y="904022"/>
            <a:ext cx="29412" cy="29412"/>
          </a:xfrm>
          <a:prstGeom prst="ellipse">
            <a:avLst/>
          </a:prstGeom>
          <a:solidFill>
            <a:srgbClr val="10B981">
              <a:alpha val="45000"/>
            </a:srgbClr>
          </a:solidFill>
          <a:ln/>
        </p:spPr>
        <p:txBody>
          <a:bodyPr/>
          <a:lstStyle/>
          <a:p>
            <a:endParaRPr lang="en-US"/>
          </a:p>
        </p:txBody>
      </p:sp>
      <p:sp>
        <p:nvSpPr>
          <p:cNvPr id="33" name="Shape 31"/>
          <p:cNvSpPr/>
          <p:nvPr/>
        </p:nvSpPr>
        <p:spPr>
          <a:xfrm>
            <a:off x="9346810" y="5886744"/>
            <a:ext cx="58134" cy="58134"/>
          </a:xfrm>
          <a:prstGeom prst="ellipse">
            <a:avLst/>
          </a:prstGeom>
          <a:solidFill>
            <a:srgbClr val="8B5CF6">
              <a:alpha val="45000"/>
            </a:srgbClr>
          </a:solidFill>
          <a:ln/>
        </p:spPr>
        <p:txBody>
          <a:bodyPr/>
          <a:lstStyle/>
          <a:p>
            <a:endParaRPr lang="en-US"/>
          </a:p>
        </p:txBody>
      </p:sp>
      <p:sp>
        <p:nvSpPr>
          <p:cNvPr id="34" name="Shape 32"/>
          <p:cNvSpPr/>
          <p:nvPr/>
        </p:nvSpPr>
        <p:spPr>
          <a:xfrm>
            <a:off x="11299895" y="5900591"/>
            <a:ext cx="49041" cy="49041"/>
          </a:xfrm>
          <a:prstGeom prst="ellipse">
            <a:avLst/>
          </a:prstGeom>
          <a:solidFill>
            <a:srgbClr val="6366F1">
              <a:alpha val="45000"/>
            </a:srgbClr>
          </a:solidFill>
          <a:ln/>
        </p:spPr>
        <p:txBody>
          <a:bodyPr/>
          <a:lstStyle/>
          <a:p>
            <a:endParaRPr lang="en-US"/>
          </a:p>
        </p:txBody>
      </p:sp>
      <p:sp>
        <p:nvSpPr>
          <p:cNvPr id="35" name="Shape 33"/>
          <p:cNvSpPr/>
          <p:nvPr/>
        </p:nvSpPr>
        <p:spPr>
          <a:xfrm>
            <a:off x="4358395" y="1475552"/>
            <a:ext cx="34482" cy="34482"/>
          </a:xfrm>
          <a:prstGeom prst="ellipse">
            <a:avLst/>
          </a:prstGeom>
          <a:solidFill>
            <a:srgbClr val="10B981">
              <a:alpha val="45000"/>
            </a:srgbClr>
          </a:solidFill>
          <a:ln/>
        </p:spPr>
        <p:txBody>
          <a:bodyPr/>
          <a:lstStyle/>
          <a:p>
            <a:endParaRPr lang="en-US"/>
          </a:p>
        </p:txBody>
      </p:sp>
      <p:sp>
        <p:nvSpPr>
          <p:cNvPr id="36" name="Shape 34"/>
          <p:cNvSpPr/>
          <p:nvPr/>
        </p:nvSpPr>
        <p:spPr>
          <a:xfrm>
            <a:off x="3251746" y="6559227"/>
            <a:ext cx="18576" cy="18576"/>
          </a:xfrm>
          <a:prstGeom prst="ellipse">
            <a:avLst/>
          </a:prstGeom>
          <a:solidFill>
            <a:srgbClr val="8B5CF6">
              <a:alpha val="45000"/>
            </a:srgbClr>
          </a:solidFill>
          <a:ln/>
        </p:spPr>
        <p:txBody>
          <a:bodyPr/>
          <a:lstStyle/>
          <a:p>
            <a:endParaRPr lang="en-US"/>
          </a:p>
        </p:txBody>
      </p:sp>
      <p:sp>
        <p:nvSpPr>
          <p:cNvPr id="37" name="Shape 35"/>
          <p:cNvSpPr/>
          <p:nvPr/>
        </p:nvSpPr>
        <p:spPr>
          <a:xfrm>
            <a:off x="5378028" y="613304"/>
            <a:ext cx="59048" cy="59048"/>
          </a:xfrm>
          <a:prstGeom prst="ellipse">
            <a:avLst/>
          </a:prstGeom>
          <a:solidFill>
            <a:srgbClr val="6366F1">
              <a:alpha val="45000"/>
            </a:srgbClr>
          </a:solidFill>
          <a:ln/>
        </p:spPr>
        <p:txBody>
          <a:bodyPr/>
          <a:lstStyle/>
          <a:p>
            <a:endParaRPr lang="en-US"/>
          </a:p>
        </p:txBody>
      </p:sp>
      <p:sp>
        <p:nvSpPr>
          <p:cNvPr id="38" name="Shape 36"/>
          <p:cNvSpPr/>
          <p:nvPr/>
        </p:nvSpPr>
        <p:spPr>
          <a:xfrm>
            <a:off x="10926849" y="1813719"/>
            <a:ext cx="19292" cy="19292"/>
          </a:xfrm>
          <a:prstGeom prst="ellipse">
            <a:avLst/>
          </a:prstGeom>
          <a:solidFill>
            <a:srgbClr val="10B981">
              <a:alpha val="45000"/>
            </a:srgbClr>
          </a:solidFill>
          <a:ln/>
        </p:spPr>
        <p:txBody>
          <a:bodyPr/>
          <a:lstStyle/>
          <a:p>
            <a:endParaRPr lang="en-US"/>
          </a:p>
        </p:txBody>
      </p:sp>
      <p:sp>
        <p:nvSpPr>
          <p:cNvPr id="39" name="Shape 37"/>
          <p:cNvSpPr/>
          <p:nvPr/>
        </p:nvSpPr>
        <p:spPr>
          <a:xfrm>
            <a:off x="10601726" y="1576152"/>
            <a:ext cx="52464" cy="52464"/>
          </a:xfrm>
          <a:prstGeom prst="ellipse">
            <a:avLst/>
          </a:prstGeom>
          <a:solidFill>
            <a:srgbClr val="8B5CF6">
              <a:alpha val="45000"/>
            </a:srgbClr>
          </a:solidFill>
          <a:ln/>
        </p:spPr>
        <p:txBody>
          <a:bodyPr/>
          <a:lstStyle/>
          <a:p>
            <a:endParaRPr lang="en-US"/>
          </a:p>
        </p:txBody>
      </p:sp>
      <p:sp>
        <p:nvSpPr>
          <p:cNvPr id="40" name="Shape 38"/>
          <p:cNvSpPr/>
          <p:nvPr/>
        </p:nvSpPr>
        <p:spPr>
          <a:xfrm>
            <a:off x="2056408" y="256499"/>
            <a:ext cx="21654" cy="21654"/>
          </a:xfrm>
          <a:prstGeom prst="ellipse">
            <a:avLst/>
          </a:prstGeom>
          <a:solidFill>
            <a:srgbClr val="6366F1">
              <a:alpha val="45000"/>
            </a:srgbClr>
          </a:solidFill>
          <a:ln/>
        </p:spPr>
        <p:txBody>
          <a:bodyPr/>
          <a:lstStyle/>
          <a:p>
            <a:endParaRPr lang="en-US"/>
          </a:p>
        </p:txBody>
      </p:sp>
      <p:sp>
        <p:nvSpPr>
          <p:cNvPr id="41" name="Shape 39"/>
          <p:cNvSpPr/>
          <p:nvPr/>
        </p:nvSpPr>
        <p:spPr>
          <a:xfrm>
            <a:off x="10128023" y="5782910"/>
            <a:ext cx="24279" cy="24279"/>
          </a:xfrm>
          <a:prstGeom prst="ellipse">
            <a:avLst/>
          </a:prstGeom>
          <a:solidFill>
            <a:srgbClr val="10B981">
              <a:alpha val="45000"/>
            </a:srgbClr>
          </a:solidFill>
          <a:ln/>
        </p:spPr>
        <p:txBody>
          <a:bodyPr/>
          <a:lstStyle/>
          <a:p>
            <a:endParaRPr lang="en-US"/>
          </a:p>
        </p:txBody>
      </p:sp>
      <p:sp>
        <p:nvSpPr>
          <p:cNvPr id="42" name="Shape 40"/>
          <p:cNvSpPr/>
          <p:nvPr/>
        </p:nvSpPr>
        <p:spPr>
          <a:xfrm>
            <a:off x="6022890" y="356923"/>
            <a:ext cx="29792" cy="29792"/>
          </a:xfrm>
          <a:prstGeom prst="ellipse">
            <a:avLst/>
          </a:prstGeom>
          <a:solidFill>
            <a:srgbClr val="8B5CF6">
              <a:alpha val="45000"/>
            </a:srgbClr>
          </a:solidFill>
          <a:ln/>
        </p:spPr>
        <p:txBody>
          <a:bodyPr/>
          <a:lstStyle/>
          <a:p>
            <a:endParaRPr lang="en-US"/>
          </a:p>
        </p:txBody>
      </p:sp>
      <p:sp>
        <p:nvSpPr>
          <p:cNvPr id="43" name="Shape 41"/>
          <p:cNvSpPr/>
          <p:nvPr/>
        </p:nvSpPr>
        <p:spPr>
          <a:xfrm>
            <a:off x="5953433" y="439561"/>
            <a:ext cx="32923" cy="32923"/>
          </a:xfrm>
          <a:prstGeom prst="ellipse">
            <a:avLst/>
          </a:prstGeom>
          <a:solidFill>
            <a:srgbClr val="6366F1">
              <a:alpha val="45000"/>
            </a:srgbClr>
          </a:solidFill>
          <a:ln/>
        </p:spPr>
        <p:txBody>
          <a:bodyPr/>
          <a:lstStyle/>
          <a:p>
            <a:endParaRPr lang="en-US"/>
          </a:p>
        </p:txBody>
      </p:sp>
      <p:sp>
        <p:nvSpPr>
          <p:cNvPr id="44" name="Shape 42"/>
          <p:cNvSpPr/>
          <p:nvPr/>
        </p:nvSpPr>
        <p:spPr>
          <a:xfrm>
            <a:off x="9638171" y="937125"/>
            <a:ext cx="25060" cy="25060"/>
          </a:xfrm>
          <a:prstGeom prst="ellipse">
            <a:avLst/>
          </a:prstGeom>
          <a:solidFill>
            <a:srgbClr val="10B981">
              <a:alpha val="45000"/>
            </a:srgbClr>
          </a:solidFill>
          <a:ln/>
        </p:spPr>
        <p:txBody>
          <a:bodyPr/>
          <a:lstStyle/>
          <a:p>
            <a:endParaRPr lang="en-US"/>
          </a:p>
        </p:txBody>
      </p:sp>
      <p:sp>
        <p:nvSpPr>
          <p:cNvPr id="45" name="Shape 43"/>
          <p:cNvSpPr/>
          <p:nvPr/>
        </p:nvSpPr>
        <p:spPr>
          <a:xfrm>
            <a:off x="5055467" y="57914"/>
            <a:ext cx="49408" cy="49408"/>
          </a:xfrm>
          <a:prstGeom prst="ellipse">
            <a:avLst/>
          </a:prstGeom>
          <a:solidFill>
            <a:srgbClr val="8B5CF6">
              <a:alpha val="45000"/>
            </a:srgbClr>
          </a:solidFill>
          <a:ln/>
        </p:spPr>
        <p:txBody>
          <a:bodyPr/>
          <a:lstStyle/>
          <a:p>
            <a:endParaRPr lang="en-US"/>
          </a:p>
        </p:txBody>
      </p:sp>
      <p:sp>
        <p:nvSpPr>
          <p:cNvPr id="46" name="Shape 44"/>
          <p:cNvSpPr/>
          <p:nvPr/>
        </p:nvSpPr>
        <p:spPr>
          <a:xfrm>
            <a:off x="8740935" y="4383528"/>
            <a:ext cx="29313" cy="29313"/>
          </a:xfrm>
          <a:prstGeom prst="ellipse">
            <a:avLst/>
          </a:prstGeom>
          <a:solidFill>
            <a:srgbClr val="6366F1">
              <a:alpha val="45000"/>
            </a:srgbClr>
          </a:solidFill>
          <a:ln/>
        </p:spPr>
        <p:txBody>
          <a:bodyPr/>
          <a:lstStyle/>
          <a:p>
            <a:endParaRPr lang="en-US"/>
          </a:p>
        </p:txBody>
      </p:sp>
      <p:sp>
        <p:nvSpPr>
          <p:cNvPr id="47" name="Shape 45"/>
          <p:cNvSpPr/>
          <p:nvPr/>
        </p:nvSpPr>
        <p:spPr>
          <a:xfrm>
            <a:off x="4381809" y="529167"/>
            <a:ext cx="54542" cy="54542"/>
          </a:xfrm>
          <a:prstGeom prst="ellipse">
            <a:avLst/>
          </a:prstGeom>
          <a:solidFill>
            <a:srgbClr val="10B981">
              <a:alpha val="45000"/>
            </a:srgbClr>
          </a:solidFill>
          <a:ln/>
        </p:spPr>
        <p:txBody>
          <a:bodyPr/>
          <a:lstStyle/>
          <a:p>
            <a:endParaRPr lang="en-US"/>
          </a:p>
        </p:txBody>
      </p:sp>
      <p:sp>
        <p:nvSpPr>
          <p:cNvPr id="48" name="Shape 46"/>
          <p:cNvSpPr/>
          <p:nvPr/>
        </p:nvSpPr>
        <p:spPr>
          <a:xfrm>
            <a:off x="1010435" y="468930"/>
            <a:ext cx="25955" cy="25955"/>
          </a:xfrm>
          <a:prstGeom prst="ellipse">
            <a:avLst/>
          </a:prstGeom>
          <a:solidFill>
            <a:srgbClr val="8B5CF6">
              <a:alpha val="45000"/>
            </a:srgbClr>
          </a:solidFill>
          <a:ln/>
        </p:spPr>
        <p:txBody>
          <a:bodyPr/>
          <a:lstStyle/>
          <a:p>
            <a:endParaRPr lang="en-US"/>
          </a:p>
        </p:txBody>
      </p:sp>
      <p:sp>
        <p:nvSpPr>
          <p:cNvPr id="49" name="Shape 47"/>
          <p:cNvSpPr/>
          <p:nvPr/>
        </p:nvSpPr>
        <p:spPr>
          <a:xfrm>
            <a:off x="3706687" y="202318"/>
            <a:ext cx="42993" cy="42993"/>
          </a:xfrm>
          <a:prstGeom prst="ellipse">
            <a:avLst/>
          </a:prstGeom>
          <a:solidFill>
            <a:srgbClr val="6366F1">
              <a:alpha val="45000"/>
            </a:srgbClr>
          </a:solidFill>
          <a:ln/>
        </p:spPr>
        <p:txBody>
          <a:bodyPr/>
          <a:lstStyle/>
          <a:p>
            <a:endParaRPr lang="en-US"/>
          </a:p>
        </p:txBody>
      </p:sp>
      <p:sp>
        <p:nvSpPr>
          <p:cNvPr id="50" name="Shape 48"/>
          <p:cNvSpPr/>
          <p:nvPr/>
        </p:nvSpPr>
        <p:spPr>
          <a:xfrm>
            <a:off x="11050605" y="4649111"/>
            <a:ext cx="37151" cy="37151"/>
          </a:xfrm>
          <a:prstGeom prst="ellipse">
            <a:avLst/>
          </a:prstGeom>
          <a:solidFill>
            <a:srgbClr val="10B981">
              <a:alpha val="45000"/>
            </a:srgbClr>
          </a:solidFill>
          <a:ln/>
        </p:spPr>
        <p:txBody>
          <a:bodyPr/>
          <a:lstStyle/>
          <a:p>
            <a:endParaRPr lang="en-US"/>
          </a:p>
        </p:txBody>
      </p:sp>
      <p:sp>
        <p:nvSpPr>
          <p:cNvPr id="51" name="Shape 49"/>
          <p:cNvSpPr/>
          <p:nvPr/>
        </p:nvSpPr>
        <p:spPr>
          <a:xfrm>
            <a:off x="11790166" y="6075833"/>
            <a:ext cx="35393" cy="35393"/>
          </a:xfrm>
          <a:prstGeom prst="ellipse">
            <a:avLst/>
          </a:prstGeom>
          <a:solidFill>
            <a:srgbClr val="8B5CF6">
              <a:alpha val="45000"/>
            </a:srgbClr>
          </a:solidFill>
          <a:ln/>
        </p:spPr>
        <p:txBody>
          <a:bodyPr/>
          <a:lstStyle/>
          <a:p>
            <a:endParaRPr lang="en-US"/>
          </a:p>
        </p:txBody>
      </p:sp>
      <p:sp>
        <p:nvSpPr>
          <p:cNvPr id="52" name="Shape 50"/>
          <p:cNvSpPr/>
          <p:nvPr/>
        </p:nvSpPr>
        <p:spPr>
          <a:xfrm>
            <a:off x="9598556" y="6273535"/>
            <a:ext cx="40717" cy="40717"/>
          </a:xfrm>
          <a:prstGeom prst="ellipse">
            <a:avLst/>
          </a:prstGeom>
          <a:solidFill>
            <a:srgbClr val="6366F1">
              <a:alpha val="45000"/>
            </a:srgbClr>
          </a:solidFill>
          <a:ln/>
        </p:spPr>
        <p:txBody>
          <a:bodyPr/>
          <a:lstStyle/>
          <a:p>
            <a:endParaRPr lang="en-US"/>
          </a:p>
        </p:txBody>
      </p:sp>
      <p:sp>
        <p:nvSpPr>
          <p:cNvPr id="53" name="Shape 51"/>
          <p:cNvSpPr/>
          <p:nvPr/>
        </p:nvSpPr>
        <p:spPr>
          <a:xfrm>
            <a:off x="12069036" y="4355924"/>
            <a:ext cx="52420" cy="52420"/>
          </a:xfrm>
          <a:prstGeom prst="ellipse">
            <a:avLst/>
          </a:prstGeom>
          <a:solidFill>
            <a:srgbClr val="10B981">
              <a:alpha val="45000"/>
            </a:srgbClr>
          </a:solidFill>
          <a:ln/>
        </p:spPr>
        <p:txBody>
          <a:bodyPr/>
          <a:lstStyle/>
          <a:p>
            <a:endParaRPr lang="en-US"/>
          </a:p>
        </p:txBody>
      </p:sp>
      <p:sp>
        <p:nvSpPr>
          <p:cNvPr id="54" name="Shape 52"/>
          <p:cNvSpPr/>
          <p:nvPr/>
        </p:nvSpPr>
        <p:spPr>
          <a:xfrm>
            <a:off x="5367523" y="517437"/>
            <a:ext cx="58314" cy="58314"/>
          </a:xfrm>
          <a:prstGeom prst="ellipse">
            <a:avLst/>
          </a:prstGeom>
          <a:solidFill>
            <a:srgbClr val="8B5CF6">
              <a:alpha val="45000"/>
            </a:srgbClr>
          </a:solidFill>
          <a:ln/>
        </p:spPr>
        <p:txBody>
          <a:bodyPr/>
          <a:lstStyle/>
          <a:p>
            <a:endParaRPr lang="en-US"/>
          </a:p>
        </p:txBody>
      </p:sp>
      <p:sp>
        <p:nvSpPr>
          <p:cNvPr id="55" name="Shape 53"/>
          <p:cNvSpPr/>
          <p:nvPr/>
        </p:nvSpPr>
        <p:spPr>
          <a:xfrm>
            <a:off x="9539029" y="3444287"/>
            <a:ext cx="36558" cy="36558"/>
          </a:xfrm>
          <a:prstGeom prst="ellipse">
            <a:avLst/>
          </a:prstGeom>
          <a:solidFill>
            <a:srgbClr val="6366F1">
              <a:alpha val="45000"/>
            </a:srgbClr>
          </a:solidFill>
          <a:ln/>
        </p:spPr>
        <p:txBody>
          <a:bodyPr/>
          <a:lstStyle/>
          <a:p>
            <a:endParaRPr lang="en-US"/>
          </a:p>
        </p:txBody>
      </p:sp>
      <p:sp>
        <p:nvSpPr>
          <p:cNvPr id="56" name="Shape 54"/>
          <p:cNvSpPr/>
          <p:nvPr/>
        </p:nvSpPr>
        <p:spPr>
          <a:xfrm>
            <a:off x="10758356" y="4950384"/>
            <a:ext cx="20417" cy="20417"/>
          </a:xfrm>
          <a:prstGeom prst="ellipse">
            <a:avLst/>
          </a:prstGeom>
          <a:solidFill>
            <a:srgbClr val="10B981">
              <a:alpha val="45000"/>
            </a:srgbClr>
          </a:solidFill>
          <a:ln/>
        </p:spPr>
        <p:txBody>
          <a:bodyPr/>
          <a:lstStyle/>
          <a:p>
            <a:endParaRPr lang="en-US"/>
          </a:p>
        </p:txBody>
      </p:sp>
      <p:sp>
        <p:nvSpPr>
          <p:cNvPr id="57" name="Shape 55"/>
          <p:cNvSpPr/>
          <p:nvPr/>
        </p:nvSpPr>
        <p:spPr>
          <a:xfrm>
            <a:off x="12075621" y="4518378"/>
            <a:ext cx="24630" cy="24630"/>
          </a:xfrm>
          <a:prstGeom prst="ellipse">
            <a:avLst/>
          </a:prstGeom>
          <a:solidFill>
            <a:srgbClr val="8B5CF6">
              <a:alpha val="45000"/>
            </a:srgbClr>
          </a:solidFill>
          <a:ln/>
        </p:spPr>
        <p:txBody>
          <a:bodyPr/>
          <a:lstStyle/>
          <a:p>
            <a:endParaRPr lang="en-US"/>
          </a:p>
        </p:txBody>
      </p:sp>
      <p:sp>
        <p:nvSpPr>
          <p:cNvPr id="58" name="Shape 56"/>
          <p:cNvSpPr/>
          <p:nvPr/>
        </p:nvSpPr>
        <p:spPr>
          <a:xfrm>
            <a:off x="8252703" y="1156141"/>
            <a:ext cx="26523" cy="26523"/>
          </a:xfrm>
          <a:prstGeom prst="ellipse">
            <a:avLst/>
          </a:prstGeom>
          <a:solidFill>
            <a:srgbClr val="6366F1">
              <a:alpha val="45000"/>
            </a:srgbClr>
          </a:solidFill>
          <a:ln/>
        </p:spPr>
        <p:txBody>
          <a:bodyPr/>
          <a:lstStyle/>
          <a:p>
            <a:endParaRPr lang="en-US"/>
          </a:p>
        </p:txBody>
      </p:sp>
      <p:sp>
        <p:nvSpPr>
          <p:cNvPr id="59" name="Shape 57"/>
          <p:cNvSpPr/>
          <p:nvPr/>
        </p:nvSpPr>
        <p:spPr>
          <a:xfrm>
            <a:off x="263140" y="6580246"/>
            <a:ext cx="39456" cy="39456"/>
          </a:xfrm>
          <a:prstGeom prst="ellipse">
            <a:avLst/>
          </a:prstGeom>
          <a:solidFill>
            <a:srgbClr val="10B981">
              <a:alpha val="45000"/>
            </a:srgbClr>
          </a:solidFill>
          <a:ln/>
        </p:spPr>
        <p:txBody>
          <a:bodyPr/>
          <a:lstStyle/>
          <a:p>
            <a:endParaRPr lang="en-US"/>
          </a:p>
        </p:txBody>
      </p:sp>
      <p:sp>
        <p:nvSpPr>
          <p:cNvPr id="60" name="Shape 58"/>
          <p:cNvSpPr/>
          <p:nvPr/>
        </p:nvSpPr>
        <p:spPr>
          <a:xfrm>
            <a:off x="10121908" y="1223345"/>
            <a:ext cx="32450" cy="32450"/>
          </a:xfrm>
          <a:prstGeom prst="ellipse">
            <a:avLst/>
          </a:prstGeom>
          <a:solidFill>
            <a:srgbClr val="8B5CF6">
              <a:alpha val="45000"/>
            </a:srgbClr>
          </a:solidFill>
          <a:ln/>
        </p:spPr>
        <p:txBody>
          <a:bodyPr/>
          <a:lstStyle/>
          <a:p>
            <a:endParaRPr lang="en-US"/>
          </a:p>
        </p:txBody>
      </p:sp>
      <p:sp>
        <p:nvSpPr>
          <p:cNvPr id="61" name="Shape 59"/>
          <p:cNvSpPr/>
          <p:nvPr/>
        </p:nvSpPr>
        <p:spPr>
          <a:xfrm>
            <a:off x="6930002" y="583200"/>
            <a:ext cx="25000" cy="25000"/>
          </a:xfrm>
          <a:prstGeom prst="ellipse">
            <a:avLst/>
          </a:prstGeom>
          <a:solidFill>
            <a:srgbClr val="6366F1">
              <a:alpha val="45000"/>
            </a:srgbClr>
          </a:solidFill>
          <a:ln/>
        </p:spPr>
        <p:txBody>
          <a:bodyPr/>
          <a:lstStyle/>
          <a:p>
            <a:endParaRPr lang="en-US"/>
          </a:p>
        </p:txBody>
      </p:sp>
      <p:sp>
        <p:nvSpPr>
          <p:cNvPr id="62" name="Shape 60"/>
          <p:cNvSpPr/>
          <p:nvPr/>
        </p:nvSpPr>
        <p:spPr>
          <a:xfrm>
            <a:off x="4030451" y="188648"/>
            <a:ext cx="20781" cy="20781"/>
          </a:xfrm>
          <a:prstGeom prst="ellipse">
            <a:avLst/>
          </a:prstGeom>
          <a:solidFill>
            <a:srgbClr val="10B981">
              <a:alpha val="45000"/>
            </a:srgbClr>
          </a:solidFill>
          <a:ln/>
        </p:spPr>
        <p:txBody>
          <a:bodyPr/>
          <a:lstStyle/>
          <a:p>
            <a:endParaRPr lang="en-US"/>
          </a:p>
        </p:txBody>
      </p:sp>
      <p:sp>
        <p:nvSpPr>
          <p:cNvPr id="63" name="Shape 61"/>
          <p:cNvSpPr/>
          <p:nvPr/>
        </p:nvSpPr>
        <p:spPr>
          <a:xfrm>
            <a:off x="9040867" y="3128786"/>
            <a:ext cx="41057" cy="41057"/>
          </a:xfrm>
          <a:prstGeom prst="ellipse">
            <a:avLst/>
          </a:prstGeom>
          <a:solidFill>
            <a:srgbClr val="8B5CF6">
              <a:alpha val="45000"/>
            </a:srgbClr>
          </a:solidFill>
          <a:ln/>
        </p:spPr>
        <p:txBody>
          <a:bodyPr/>
          <a:lstStyle/>
          <a:p>
            <a:endParaRPr lang="en-US"/>
          </a:p>
        </p:txBody>
      </p:sp>
      <p:sp>
        <p:nvSpPr>
          <p:cNvPr id="64" name="Shape 62"/>
          <p:cNvSpPr/>
          <p:nvPr/>
        </p:nvSpPr>
        <p:spPr>
          <a:xfrm>
            <a:off x="10975139" y="719049"/>
            <a:ext cx="34949" cy="34949"/>
          </a:xfrm>
          <a:prstGeom prst="ellipse">
            <a:avLst/>
          </a:prstGeom>
          <a:solidFill>
            <a:srgbClr val="6366F1">
              <a:alpha val="45000"/>
            </a:srgbClr>
          </a:solidFill>
          <a:ln/>
        </p:spPr>
        <p:txBody>
          <a:bodyPr/>
          <a:lstStyle/>
          <a:p>
            <a:endParaRPr lang="en-US"/>
          </a:p>
        </p:txBody>
      </p:sp>
      <p:sp>
        <p:nvSpPr>
          <p:cNvPr id="65" name="Shape 63"/>
          <p:cNvSpPr/>
          <p:nvPr/>
        </p:nvSpPr>
        <p:spPr>
          <a:xfrm>
            <a:off x="389196" y="872655"/>
            <a:ext cx="48264" cy="48264"/>
          </a:xfrm>
          <a:prstGeom prst="ellipse">
            <a:avLst/>
          </a:prstGeom>
          <a:solidFill>
            <a:srgbClr val="10B981">
              <a:alpha val="45000"/>
            </a:srgbClr>
          </a:solidFill>
          <a:ln/>
        </p:spPr>
        <p:txBody>
          <a:bodyPr/>
          <a:lstStyle/>
          <a:p>
            <a:endParaRPr lang="en-US"/>
          </a:p>
        </p:txBody>
      </p:sp>
      <p:sp>
        <p:nvSpPr>
          <p:cNvPr id="66" name="Shape 64"/>
          <p:cNvSpPr/>
          <p:nvPr/>
        </p:nvSpPr>
        <p:spPr>
          <a:xfrm>
            <a:off x="10376006" y="198584"/>
            <a:ext cx="40378" cy="40378"/>
          </a:xfrm>
          <a:prstGeom prst="ellipse">
            <a:avLst/>
          </a:prstGeom>
          <a:solidFill>
            <a:srgbClr val="8B5CF6">
              <a:alpha val="45000"/>
            </a:srgbClr>
          </a:solidFill>
          <a:ln/>
        </p:spPr>
        <p:txBody>
          <a:bodyPr/>
          <a:lstStyle/>
          <a:p>
            <a:endParaRPr lang="en-US"/>
          </a:p>
        </p:txBody>
      </p:sp>
      <p:sp>
        <p:nvSpPr>
          <p:cNvPr id="67" name="Shape 65"/>
          <p:cNvSpPr/>
          <p:nvPr/>
        </p:nvSpPr>
        <p:spPr>
          <a:xfrm>
            <a:off x="5999529" y="1576740"/>
            <a:ext cx="44127" cy="44127"/>
          </a:xfrm>
          <a:prstGeom prst="ellipse">
            <a:avLst/>
          </a:prstGeom>
          <a:solidFill>
            <a:srgbClr val="6366F1">
              <a:alpha val="45000"/>
            </a:srgbClr>
          </a:solidFill>
          <a:ln/>
        </p:spPr>
        <p:txBody>
          <a:bodyPr/>
          <a:lstStyle/>
          <a:p>
            <a:endParaRPr lang="en-US"/>
          </a:p>
        </p:txBody>
      </p:sp>
      <p:sp>
        <p:nvSpPr>
          <p:cNvPr id="68" name="Shape 66"/>
          <p:cNvSpPr/>
          <p:nvPr/>
        </p:nvSpPr>
        <p:spPr>
          <a:xfrm>
            <a:off x="8778240" y="274320"/>
            <a:ext cx="3840480" cy="3840480"/>
          </a:xfrm>
          <a:prstGeom prst="ellipse">
            <a:avLst/>
          </a:prstGeom>
          <a:ln w="15875">
            <a:solidFill>
              <a:srgbClr val="6366F1">
                <a:alpha val="45000"/>
              </a:srgbClr>
            </a:solidFill>
            <a:prstDash val="solid"/>
          </a:ln>
        </p:spPr>
        <p:txBody>
          <a:bodyPr/>
          <a:lstStyle/>
          <a:p>
            <a:endParaRPr lang="en-US"/>
          </a:p>
        </p:txBody>
      </p:sp>
      <p:sp>
        <p:nvSpPr>
          <p:cNvPr id="69" name="Shape 67"/>
          <p:cNvSpPr/>
          <p:nvPr/>
        </p:nvSpPr>
        <p:spPr>
          <a:xfrm>
            <a:off x="9464040" y="960120"/>
            <a:ext cx="2468880" cy="2468880"/>
          </a:xfrm>
          <a:prstGeom prst="ellipse">
            <a:avLst/>
          </a:prstGeom>
          <a:ln w="15875">
            <a:solidFill>
              <a:srgbClr val="10B981">
                <a:alpha val="45000"/>
              </a:srgbClr>
            </a:solidFill>
            <a:prstDash val="solid"/>
          </a:ln>
        </p:spPr>
        <p:txBody>
          <a:bodyPr/>
          <a:lstStyle/>
          <a:p>
            <a:endParaRPr lang="en-US"/>
          </a:p>
        </p:txBody>
      </p:sp>
      <p:sp>
        <p:nvSpPr>
          <p:cNvPr id="70" name="Shape 68"/>
          <p:cNvSpPr/>
          <p:nvPr/>
        </p:nvSpPr>
        <p:spPr>
          <a:xfrm>
            <a:off x="502920" y="566928"/>
            <a:ext cx="457200" cy="457200"/>
          </a:xfrm>
          <a:prstGeom prst="ellipse">
            <a:avLst/>
          </a:prstGeom>
          <a:solidFill>
            <a:srgbClr val="10B981"/>
          </a:solidFill>
          <a:ln/>
        </p:spPr>
        <p:txBody>
          <a:bodyPr/>
          <a:lstStyle/>
          <a:p>
            <a:endParaRPr lang="en-US"/>
          </a:p>
        </p:txBody>
      </p:sp>
      <p:pic>
        <p:nvPicPr>
          <p:cNvPr id="71" name="Image 0" descr="/home/claude/pptx_build/icons/bookOpen_white.png"/>
          <p:cNvPicPr>
            <a:picLocks noChangeAspect="1"/>
          </p:cNvPicPr>
          <p:nvPr/>
        </p:nvPicPr>
        <p:blipFill>
          <a:blip r:embed="rId3"/>
          <a:stretch>
            <a:fillRect/>
          </a:stretch>
        </p:blipFill>
        <p:spPr>
          <a:xfrm>
            <a:off x="594360" y="658368"/>
            <a:ext cx="274320" cy="274320"/>
          </a:xfrm>
          <a:prstGeom prst="rect">
            <a:avLst/>
          </a:prstGeom>
          <a:ln/>
        </p:spPr>
      </p:pic>
      <p:sp>
        <p:nvSpPr>
          <p:cNvPr id="72" name="Text 69"/>
          <p:cNvSpPr/>
          <p:nvPr/>
        </p:nvSpPr>
        <p:spPr>
          <a:xfrm>
            <a:off x="1097280" y="548640"/>
            <a:ext cx="4572000" cy="493776"/>
          </a:xfrm>
          <a:prstGeom prst="rect">
            <a:avLst/>
          </a:prstGeom>
          <a:noFill/>
          <a:ln/>
        </p:spPr>
        <p:txBody>
          <a:bodyPr wrap="square" rtlCol="0" anchor="ctr"/>
          <a:lstStyle/>
          <a:p>
            <a:pPr marL="0" indent="0">
              <a:buNone/>
            </a:pPr>
            <a:r>
              <a:rPr lang="en-US" sz="1400" b="1" kern="0" spc="200" dirty="0">
                <a:solidFill>
                  <a:srgbClr val="0F172A"/>
                </a:solidFill>
                <a:latin typeface="Arial" pitchFamily="34" charset="0"/>
                <a:ea typeface="Arial" pitchFamily="34" charset="-122"/>
                <a:cs typeface="Arial" pitchFamily="34" charset="-120"/>
              </a:rPr>
              <a:t>LITREVIEW AGENT</a:t>
            </a:r>
            <a:endParaRPr lang="en-US" sz="1400" dirty="0"/>
          </a:p>
        </p:txBody>
      </p:sp>
      <p:sp>
        <p:nvSpPr>
          <p:cNvPr id="73" name="Text 70"/>
          <p:cNvSpPr/>
          <p:nvPr/>
        </p:nvSpPr>
        <p:spPr>
          <a:xfrm>
            <a:off x="502920" y="1874520"/>
            <a:ext cx="9601200" cy="320040"/>
          </a:xfrm>
          <a:prstGeom prst="rect">
            <a:avLst/>
          </a:prstGeom>
          <a:noFill/>
          <a:ln/>
        </p:spPr>
        <p:txBody>
          <a:bodyPr wrap="square" rtlCol="0" anchor="ctr"/>
          <a:lstStyle/>
          <a:p>
            <a:pPr marL="0" indent="0">
              <a:buNone/>
            </a:pPr>
            <a:r>
              <a:rPr lang="en-US" sz="1300" b="1" kern="0" spc="200" dirty="0">
                <a:solidFill>
                  <a:srgbClr val="10B981"/>
                </a:solidFill>
                <a:latin typeface="Arial" pitchFamily="34" charset="0"/>
                <a:ea typeface="Arial" pitchFamily="34" charset="-122"/>
                <a:cs typeface="Arial" pitchFamily="34" charset="-120"/>
              </a:rPr>
              <a:t>AI20K BUILD PHASE · COHORT 3 · PROJECT P-165</a:t>
            </a:r>
            <a:endParaRPr lang="en-US" sz="1300" dirty="0"/>
          </a:p>
        </p:txBody>
      </p:sp>
      <p:sp>
        <p:nvSpPr>
          <p:cNvPr id="74" name="Text 71"/>
          <p:cNvSpPr/>
          <p:nvPr/>
        </p:nvSpPr>
        <p:spPr>
          <a:xfrm>
            <a:off x="502920" y="2212848"/>
            <a:ext cx="10058400" cy="1234440"/>
          </a:xfrm>
          <a:prstGeom prst="rect">
            <a:avLst/>
          </a:prstGeom>
          <a:noFill/>
          <a:ln/>
        </p:spPr>
        <p:txBody>
          <a:bodyPr wrap="square" rtlCol="0" anchor="t"/>
          <a:lstStyle/>
          <a:p>
            <a:pPr marL="0" indent="0" algn="l">
              <a:buNone/>
            </a:pPr>
            <a:r>
              <a:rPr lang="en-US" sz="5600" b="1" dirty="0">
                <a:solidFill>
                  <a:srgbClr val="0F172A"/>
                </a:solidFill>
                <a:latin typeface="Arial" pitchFamily="34" charset="0"/>
                <a:ea typeface="Arial" pitchFamily="34" charset="-122"/>
                <a:cs typeface="Arial" pitchFamily="34" charset="-120"/>
              </a:rPr>
              <a:t>LitReview Agent</a:t>
            </a:r>
            <a:endParaRPr lang="en-US" sz="5600" dirty="0"/>
          </a:p>
        </p:txBody>
      </p:sp>
      <p:sp>
        <p:nvSpPr>
          <p:cNvPr id="75" name="Text 72"/>
          <p:cNvSpPr/>
          <p:nvPr/>
        </p:nvSpPr>
        <p:spPr>
          <a:xfrm>
            <a:off x="502920" y="3364992"/>
            <a:ext cx="9692640" cy="502920"/>
          </a:xfrm>
          <a:prstGeom prst="rect">
            <a:avLst/>
          </a:prstGeom>
          <a:noFill/>
          <a:ln/>
        </p:spPr>
        <p:txBody>
          <a:bodyPr wrap="square" rtlCol="0" anchor="ctr"/>
          <a:lstStyle/>
          <a:p>
            <a:pPr marL="0" indent="0">
              <a:buNone/>
            </a:pPr>
            <a:r>
              <a:rPr lang="en-US" sz="2000" b="1" dirty="0">
                <a:solidFill>
                  <a:srgbClr val="8B5CF6"/>
                </a:solidFill>
                <a:latin typeface="Arial" pitchFamily="34" charset="0"/>
                <a:ea typeface="Arial" pitchFamily="34" charset="-122"/>
                <a:cs typeface="Arial" pitchFamily="34" charset="-120"/>
              </a:rPr>
              <a:t>Multi-Agent SLR Swarm cho Tổng quan Tài liệu Hệ thống</a:t>
            </a:r>
            <a:endParaRPr lang="en-US" sz="2000" dirty="0"/>
          </a:p>
        </p:txBody>
      </p:sp>
      <p:sp>
        <p:nvSpPr>
          <p:cNvPr id="76" name="Text 73"/>
          <p:cNvSpPr/>
          <p:nvPr/>
        </p:nvSpPr>
        <p:spPr>
          <a:xfrm>
            <a:off x="502920" y="3950208"/>
            <a:ext cx="8138160" cy="868680"/>
          </a:xfrm>
          <a:prstGeom prst="rect">
            <a:avLst/>
          </a:prstGeom>
          <a:noFill/>
          <a:ln/>
        </p:spPr>
        <p:txBody>
          <a:bodyPr wrap="square" rtlCol="0" anchor="ctr"/>
          <a:lstStyle/>
          <a:p>
            <a:pPr marL="0" indent="0">
              <a:lnSpc>
                <a:spcPct val="128000"/>
              </a:lnSpc>
              <a:buNone/>
            </a:pPr>
            <a:r>
              <a:rPr lang="en-US" sz="1450" dirty="0">
                <a:solidFill>
                  <a:srgbClr val="334155"/>
                </a:solidFill>
                <a:latin typeface="Calibri" pitchFamily="34" charset="0"/>
                <a:ea typeface="Calibri" pitchFamily="34" charset="-122"/>
                <a:cs typeface="Calibri" pitchFamily="34" charset="-120"/>
              </a:rPr>
              <a:t>Tự động hoá toàn trình nghiên cứu: tìm kiếm &amp; đối chiếu Scopus, sàng lọc PRISMA bằng AI, đến tổng hợp đa tài liệu có trích dẫn kiểm chứng (anti-hallucination) — con người vẫn giữ quyền phê duyệt cuối cùng.</a:t>
            </a:r>
            <a:endParaRPr lang="en-US" sz="1450" dirty="0"/>
          </a:p>
        </p:txBody>
      </p:sp>
      <p:sp>
        <p:nvSpPr>
          <p:cNvPr id="77" name="Shape 74"/>
          <p:cNvSpPr/>
          <p:nvPr/>
        </p:nvSpPr>
        <p:spPr>
          <a:xfrm>
            <a:off x="502920" y="5074920"/>
            <a:ext cx="384048" cy="384048"/>
          </a:xfrm>
          <a:prstGeom prst="ellipse">
            <a:avLst/>
          </a:prstGeom>
          <a:solidFill>
            <a:srgbClr val="6366F1"/>
          </a:solidFill>
          <a:ln/>
        </p:spPr>
        <p:txBody>
          <a:bodyPr/>
          <a:lstStyle/>
          <a:p>
            <a:endParaRPr lang="en-US"/>
          </a:p>
        </p:txBody>
      </p:sp>
      <p:pic>
        <p:nvPicPr>
          <p:cNvPr id="78" name="Image 1" descr="/home/claude/pptx_build/icons/users_white.png"/>
          <p:cNvPicPr>
            <a:picLocks noChangeAspect="1"/>
          </p:cNvPicPr>
          <p:nvPr/>
        </p:nvPicPr>
        <p:blipFill>
          <a:blip r:embed="rId4"/>
          <a:stretch>
            <a:fillRect/>
          </a:stretch>
        </p:blipFill>
        <p:spPr>
          <a:xfrm>
            <a:off x="595092" y="5167092"/>
            <a:ext cx="199705" cy="199705"/>
          </a:xfrm>
          <a:prstGeom prst="rect">
            <a:avLst/>
          </a:prstGeom>
          <a:ln/>
        </p:spPr>
      </p:pic>
      <p:sp>
        <p:nvSpPr>
          <p:cNvPr id="79" name="Text 75"/>
          <p:cNvSpPr/>
          <p:nvPr/>
        </p:nvSpPr>
        <p:spPr>
          <a:xfrm>
            <a:off x="1005840" y="5074920"/>
            <a:ext cx="8686800" cy="384048"/>
          </a:xfrm>
          <a:prstGeom prst="rect">
            <a:avLst/>
          </a:prstGeom>
          <a:noFill/>
          <a:ln/>
        </p:spPr>
        <p:txBody>
          <a:bodyPr wrap="square"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Team P-165  </a:t>
            </a:r>
            <a:r>
              <a:rPr lang="en-US" sz="1250" dirty="0">
                <a:solidFill>
                  <a:srgbClr val="64748B"/>
                </a:solidFill>
                <a:latin typeface="Calibri" pitchFamily="34" charset="0"/>
                <a:ea typeface="Calibri" pitchFamily="34" charset="-122"/>
                <a:cs typeface="Calibri" pitchFamily="34" charset="-120"/>
              </a:rPr>
              <a:t>Nguyễn Đào Nam Hải · Nguyễn Đình Liêm · Tạ Thị Nga · Nguyễn Văn Hưng</a:t>
            </a:r>
            <a:endParaRPr lang="en-US" sz="1250" dirty="0"/>
          </a:p>
        </p:txBody>
      </p:sp>
      <p:sp>
        <p:nvSpPr>
          <p:cNvPr id="80" name="Shape 76"/>
          <p:cNvSpPr/>
          <p:nvPr/>
        </p:nvSpPr>
        <p:spPr>
          <a:xfrm>
            <a:off x="502920" y="5806440"/>
            <a:ext cx="2331720" cy="457200"/>
          </a:xfrm>
          <a:prstGeom prst="roundRect">
            <a:avLst>
              <a:gd name="adj" fmla="val 50000"/>
            </a:avLst>
          </a:prstGeom>
          <a:solidFill>
            <a:srgbClr val="F1F5F9"/>
          </a:solidFill>
          <a:ln w="12700">
            <a:solidFill>
              <a:srgbClr val="6366F1"/>
            </a:solidFill>
            <a:prstDash val="solid"/>
          </a:ln>
        </p:spPr>
        <p:txBody>
          <a:bodyPr/>
          <a:lstStyle/>
          <a:p>
            <a:endParaRPr lang="en-US"/>
          </a:p>
        </p:txBody>
      </p:sp>
      <p:sp>
        <p:nvSpPr>
          <p:cNvPr id="81" name="Text 77"/>
          <p:cNvSpPr/>
          <p:nvPr/>
        </p:nvSpPr>
        <p:spPr>
          <a:xfrm>
            <a:off x="502920" y="5806440"/>
            <a:ext cx="2331720" cy="457200"/>
          </a:xfrm>
          <a:prstGeom prst="rect">
            <a:avLst/>
          </a:prstGeom>
          <a:noFill/>
          <a:ln/>
        </p:spPr>
        <p:txBody>
          <a:bodyPr wrap="square" rtlCol="0" anchor="ctr"/>
          <a:lstStyle/>
          <a:p>
            <a:pPr marL="0" indent="0" algn="ctr">
              <a:buNone/>
            </a:pPr>
            <a:r>
              <a:rPr lang="en-US" sz="1150" b="1" kern="0" spc="100" dirty="0">
                <a:solidFill>
                  <a:srgbClr val="0F172A"/>
                </a:solidFill>
                <a:latin typeface="Arial" pitchFamily="34" charset="0"/>
                <a:ea typeface="Arial" pitchFamily="34" charset="-122"/>
                <a:cs typeface="Arial" pitchFamily="34" charset="-120"/>
              </a:rPr>
              <a:t>DEMO DAY · 08/2026</a:t>
            </a:r>
            <a:endParaRPr lang="en-US" sz="1150" dirty="0"/>
          </a:p>
        </p:txBody>
      </p:sp>
      <p:sp>
        <p:nvSpPr>
          <p:cNvPr id="82" name="Text 78"/>
          <p:cNvSpPr/>
          <p:nvPr/>
        </p:nvSpPr>
        <p:spPr>
          <a:xfrm>
            <a:off x="3063240" y="5806440"/>
            <a:ext cx="5486400" cy="457200"/>
          </a:xfrm>
          <a:prstGeom prst="rect">
            <a:avLst/>
          </a:prstGeom>
          <a:noFill/>
          <a:ln/>
        </p:spPr>
        <p:txBody>
          <a:bodyPr wrap="square" rtlCol="0" anchor="ctr"/>
          <a:lstStyle/>
          <a:p>
            <a:r>
              <a:rPr lang="en-US" sz="1150" dirty="0">
                <a:solidFill>
                  <a:srgbClr val="64748B"/>
                </a:solidFill>
              </a:rPr>
              <a:t>https://github.com/AI20K-Build-Phase-Cohort-3/P-165.git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47472"/>
            <a:ext cx="310896" cy="310896"/>
          </a:xfrm>
          <a:prstGeom prst="ellipse">
            <a:avLst/>
          </a:prstGeom>
          <a:solidFill>
            <a:srgbClr val="10B981"/>
          </a:solidFill>
          <a:ln/>
        </p:spPr>
        <p:txBody>
          <a:bodyPr/>
          <a:lstStyle/>
          <a:p>
            <a:endParaRPr lang="en-US"/>
          </a:p>
        </p:txBody>
      </p:sp>
      <p:pic>
        <p:nvPicPr>
          <p:cNvPr id="3" name="Image 0" descr="/home/claude/pptx_build/icons/bookOpen_white.png"/>
          <p:cNvPicPr>
            <a:picLocks noChangeAspect="1"/>
          </p:cNvPicPr>
          <p:nvPr/>
        </p:nvPicPr>
        <p:blipFill>
          <a:blip r:embed="rId3"/>
          <a:stretch>
            <a:fillRect/>
          </a:stretch>
        </p:blipFill>
        <p:spPr>
          <a:xfrm>
            <a:off x="566928" y="411480"/>
            <a:ext cx="182880" cy="182880"/>
          </a:xfrm>
          <a:prstGeom prst="rect">
            <a:avLst/>
          </a:prstGeom>
          <a:ln/>
        </p:spPr>
      </p:pic>
      <p:sp>
        <p:nvSpPr>
          <p:cNvPr id="4" name="Text 1"/>
          <p:cNvSpPr/>
          <p:nvPr/>
        </p:nvSpPr>
        <p:spPr>
          <a:xfrm>
            <a:off x="923544" y="320040"/>
            <a:ext cx="2926080" cy="365760"/>
          </a:xfrm>
          <a:prstGeom prst="rect">
            <a:avLst/>
          </a:prstGeom>
          <a:noFill/>
          <a:ln/>
        </p:spPr>
        <p:txBody>
          <a:bodyPr wrap="square" rtlCol="0" anchor="ctr"/>
          <a:lstStyle/>
          <a:p>
            <a:pPr marL="0" indent="0" algn="l">
              <a:buNone/>
            </a:pPr>
            <a:r>
              <a:rPr lang="en-US" sz="1250" b="1" kern="0" spc="50" dirty="0">
                <a:solidFill>
                  <a:srgbClr val="0F172A"/>
                </a:solidFill>
                <a:latin typeface="Arial" pitchFamily="34" charset="0"/>
                <a:ea typeface="Arial" pitchFamily="34" charset="-122"/>
                <a:cs typeface="Arial" pitchFamily="34" charset="-120"/>
              </a:rPr>
              <a:t>LitReview Agent</a:t>
            </a:r>
            <a:endParaRPr lang="en-US" sz="1250" dirty="0"/>
          </a:p>
        </p:txBody>
      </p:sp>
      <p:sp>
        <p:nvSpPr>
          <p:cNvPr id="5" name="Text 2"/>
          <p:cNvSpPr/>
          <p:nvPr/>
        </p:nvSpPr>
        <p:spPr>
          <a:xfrm>
            <a:off x="502920" y="841248"/>
            <a:ext cx="11185855" cy="292608"/>
          </a:xfrm>
          <a:prstGeom prst="rect">
            <a:avLst/>
          </a:prstGeom>
          <a:noFill/>
          <a:ln/>
        </p:spPr>
        <p:txBody>
          <a:bodyPr wrap="square" rtlCol="0" anchor="ctr"/>
          <a:lstStyle/>
          <a:p>
            <a:pPr marL="0" indent="0" algn="l">
              <a:buNone/>
            </a:pPr>
            <a:r>
              <a:rPr lang="en-US" sz="1250" b="1" kern="0" spc="200" dirty="0">
                <a:solidFill>
                  <a:srgbClr val="10B981"/>
                </a:solidFill>
                <a:latin typeface="Arial" pitchFamily="34" charset="0"/>
                <a:ea typeface="Arial" pitchFamily="34" charset="-122"/>
                <a:cs typeface="Arial" pitchFamily="34" charset="-120"/>
              </a:rPr>
              <a:t>VẤN ĐỀ</a:t>
            </a:r>
            <a:endParaRPr lang="en-US" sz="1250" dirty="0"/>
          </a:p>
        </p:txBody>
      </p:sp>
      <p:sp>
        <p:nvSpPr>
          <p:cNvPr id="6" name="Text 3"/>
          <p:cNvSpPr/>
          <p:nvPr/>
        </p:nvSpPr>
        <p:spPr>
          <a:xfrm>
            <a:off x="502920" y="1152144"/>
            <a:ext cx="11185855" cy="777240"/>
          </a:xfrm>
          <a:prstGeom prst="rect">
            <a:avLst/>
          </a:prstGeom>
          <a:noFill/>
          <a:ln/>
        </p:spPr>
        <p:txBody>
          <a:bodyPr wrap="square" rtlCol="0" anchor="t"/>
          <a:lstStyle/>
          <a:p>
            <a:pPr marL="0" indent="0" algn="l">
              <a:lnSpc>
                <a:spcPct val="105000"/>
              </a:lnSpc>
              <a:buNone/>
            </a:pPr>
            <a:r>
              <a:rPr lang="en-US" sz="2700" b="1" dirty="0">
                <a:solidFill>
                  <a:srgbClr val="0F172A"/>
                </a:solidFill>
                <a:latin typeface="Arial" pitchFamily="34" charset="0"/>
                <a:ea typeface="Arial" pitchFamily="34" charset="-122"/>
                <a:cs typeface="Arial" pitchFamily="34" charset="-120"/>
              </a:rPr>
              <a:t>Literature Review vẫn ngốn hàng tuần công sức thủ công</a:t>
            </a:r>
            <a:endParaRPr lang="en-US" sz="2700" dirty="0"/>
          </a:p>
        </p:txBody>
      </p:sp>
      <p:sp>
        <p:nvSpPr>
          <p:cNvPr id="7" name="Text 4"/>
          <p:cNvSpPr/>
          <p:nvPr/>
        </p:nvSpPr>
        <p:spPr>
          <a:xfrm>
            <a:off x="502920" y="2084832"/>
            <a:ext cx="6309360" cy="960120"/>
          </a:xfrm>
          <a:prstGeom prst="rect">
            <a:avLst/>
          </a:prstGeom>
          <a:noFill/>
          <a:ln/>
        </p:spPr>
        <p:txBody>
          <a:bodyPr wrap="square" rtlCol="0" anchor="ctr"/>
          <a:lstStyle/>
          <a:p>
            <a:pPr marL="0" indent="0">
              <a:lnSpc>
                <a:spcPct val="130000"/>
              </a:lnSpc>
              <a:buNone/>
            </a:pPr>
            <a:r>
              <a:rPr lang="en-US" sz="1450" dirty="0">
                <a:solidFill>
                  <a:srgbClr val="334155"/>
                </a:solidFill>
                <a:latin typeface="Calibri" pitchFamily="34" charset="0"/>
                <a:ea typeface="Calibri" pitchFamily="34" charset="-122"/>
                <a:cs typeface="Calibri" pitchFamily="34" charset="-120"/>
              </a:rPr>
              <a:t>Trước khi viết được một dòng tổng quan nào, nghiên cứu viên và học viên sau đại học phải tự tay tìm kiếm, đọc và sàng lọc hàng trăm bài báo — lặp lại quy trình này cho mỗi đề tài mới.</a:t>
            </a:r>
            <a:endParaRPr lang="en-US" sz="1450" dirty="0"/>
          </a:p>
        </p:txBody>
      </p:sp>
      <p:sp>
        <p:nvSpPr>
          <p:cNvPr id="8" name="Shape 5"/>
          <p:cNvSpPr/>
          <p:nvPr/>
        </p:nvSpPr>
        <p:spPr>
          <a:xfrm>
            <a:off x="502920" y="3182112"/>
            <a:ext cx="402336" cy="402336"/>
          </a:xfrm>
          <a:prstGeom prst="ellipse">
            <a:avLst/>
          </a:prstGeom>
          <a:solidFill>
            <a:srgbClr val="F59E0B"/>
          </a:solidFill>
          <a:ln/>
        </p:spPr>
        <p:txBody>
          <a:bodyPr/>
          <a:lstStyle/>
          <a:p>
            <a:endParaRPr lang="en-US"/>
          </a:p>
        </p:txBody>
      </p:sp>
      <p:pic>
        <p:nvPicPr>
          <p:cNvPr id="9" name="Image 1" descr="/home/claude/pptx_build/icons/users_white.png"/>
          <p:cNvPicPr>
            <a:picLocks noChangeAspect="1"/>
          </p:cNvPicPr>
          <p:nvPr/>
        </p:nvPicPr>
        <p:blipFill>
          <a:blip r:embed="rId4"/>
          <a:stretch>
            <a:fillRect/>
          </a:stretch>
        </p:blipFill>
        <p:spPr>
          <a:xfrm>
            <a:off x="599481" y="3278673"/>
            <a:ext cx="209215" cy="209215"/>
          </a:xfrm>
          <a:prstGeom prst="rect">
            <a:avLst/>
          </a:prstGeom>
          <a:ln/>
        </p:spPr>
      </p:pic>
      <p:sp>
        <p:nvSpPr>
          <p:cNvPr id="10" name="Text 6"/>
          <p:cNvSpPr/>
          <p:nvPr/>
        </p:nvSpPr>
        <p:spPr>
          <a:xfrm>
            <a:off x="1033272" y="3154680"/>
            <a:ext cx="5779008" cy="868680"/>
          </a:xfrm>
          <a:prstGeom prst="rect">
            <a:avLst/>
          </a:prstGeom>
          <a:noFill/>
          <a:ln/>
        </p:spPr>
        <p:txBody>
          <a:bodyPr wrap="square" rtlCol="0" anchor="t"/>
          <a:lstStyle/>
          <a:p>
            <a:pPr marL="0" indent="0">
              <a:lnSpc>
                <a:spcPct val="118000"/>
              </a:lnSpc>
              <a:buNone/>
            </a:pPr>
            <a:r>
              <a:rPr lang="en-US" sz="1350" b="1" dirty="0">
                <a:solidFill>
                  <a:srgbClr val="0F172A"/>
                </a:solidFill>
                <a:latin typeface="Calibri" pitchFamily="34" charset="0"/>
                <a:ea typeface="Calibri" pitchFamily="34" charset="-122"/>
                <a:cs typeface="Calibri" pitchFamily="34" charset="-120"/>
              </a:rPr>
              <a:t>Ai đang gặp vấn đề
</a:t>
            </a:r>
            <a:endParaRPr lang="en-US" sz="1350" dirty="0"/>
          </a:p>
          <a:p>
            <a:pPr marL="0" indent="0">
              <a:lnSpc>
                <a:spcPct val="118000"/>
              </a:lnSpc>
              <a:buNone/>
            </a:pPr>
            <a:r>
              <a:rPr lang="en-US" sz="1250" dirty="0">
                <a:solidFill>
                  <a:srgbClr val="334155"/>
                </a:solidFill>
                <a:latin typeface="Calibri" pitchFamily="34" charset="0"/>
                <a:ea typeface="Calibri" pitchFamily="34" charset="-122"/>
                <a:cs typeface="Calibri" pitchFamily="34" charset="-120"/>
              </a:rPr>
              <a:t>Học viên cao học, nghiên cứu sinh và researcher đang thực hiện Systematic Literature Review (SLR).</a:t>
            </a:r>
            <a:endParaRPr lang="en-US" sz="1350" dirty="0"/>
          </a:p>
        </p:txBody>
      </p:sp>
      <p:sp>
        <p:nvSpPr>
          <p:cNvPr id="11" name="Shape 7"/>
          <p:cNvSpPr/>
          <p:nvPr/>
        </p:nvSpPr>
        <p:spPr>
          <a:xfrm>
            <a:off x="502920" y="4142232"/>
            <a:ext cx="402336" cy="402336"/>
          </a:xfrm>
          <a:prstGeom prst="ellipse">
            <a:avLst/>
          </a:prstGeom>
          <a:solidFill>
            <a:srgbClr val="F59E0B"/>
          </a:solidFill>
          <a:ln/>
        </p:spPr>
        <p:txBody>
          <a:bodyPr/>
          <a:lstStyle/>
          <a:p>
            <a:endParaRPr lang="en-US"/>
          </a:p>
        </p:txBody>
      </p:sp>
      <p:pic>
        <p:nvPicPr>
          <p:cNvPr id="12" name="Image 2" descr="/home/claude/pptx_build/icons/clock_white.png"/>
          <p:cNvPicPr>
            <a:picLocks noChangeAspect="1"/>
          </p:cNvPicPr>
          <p:nvPr/>
        </p:nvPicPr>
        <p:blipFill>
          <a:blip r:embed="rId5"/>
          <a:stretch>
            <a:fillRect/>
          </a:stretch>
        </p:blipFill>
        <p:spPr>
          <a:xfrm>
            <a:off x="599481" y="4238793"/>
            <a:ext cx="209215" cy="209215"/>
          </a:xfrm>
          <a:prstGeom prst="rect">
            <a:avLst/>
          </a:prstGeom>
          <a:ln/>
        </p:spPr>
      </p:pic>
      <p:sp>
        <p:nvSpPr>
          <p:cNvPr id="13" name="Text 8"/>
          <p:cNvSpPr/>
          <p:nvPr/>
        </p:nvSpPr>
        <p:spPr>
          <a:xfrm>
            <a:off x="1033272" y="4114800"/>
            <a:ext cx="5779008" cy="868680"/>
          </a:xfrm>
          <a:prstGeom prst="rect">
            <a:avLst/>
          </a:prstGeom>
          <a:noFill/>
          <a:ln/>
        </p:spPr>
        <p:txBody>
          <a:bodyPr wrap="square" rtlCol="0" anchor="t"/>
          <a:lstStyle/>
          <a:p>
            <a:pPr marL="0" indent="0">
              <a:lnSpc>
                <a:spcPct val="118000"/>
              </a:lnSpc>
              <a:buNone/>
            </a:pPr>
            <a:r>
              <a:rPr lang="en-US" sz="1350" b="1" dirty="0">
                <a:solidFill>
                  <a:srgbClr val="0F172A"/>
                </a:solidFill>
                <a:latin typeface="Calibri" pitchFamily="34" charset="0"/>
                <a:ea typeface="Calibri" pitchFamily="34" charset="-122"/>
                <a:cs typeface="Calibri" pitchFamily="34" charset="-120"/>
              </a:rPr>
              <a:t>Tần suất &amp; mức độ
</a:t>
            </a:r>
            <a:endParaRPr lang="en-US" sz="1350" dirty="0"/>
          </a:p>
          <a:p>
            <a:pPr marL="0" indent="0">
              <a:lnSpc>
                <a:spcPct val="118000"/>
              </a:lnSpc>
              <a:buNone/>
            </a:pPr>
            <a:r>
              <a:rPr lang="en-US" sz="1250" dirty="0">
                <a:solidFill>
                  <a:srgbClr val="334155"/>
                </a:solidFill>
                <a:latin typeface="Calibri" pitchFamily="34" charset="0"/>
                <a:ea typeface="Calibri" pitchFamily="34" charset="-122"/>
                <a:cs typeface="Calibri" pitchFamily="34" charset="-120"/>
              </a:rPr>
              <a:t>Lặp lại ở mọi đề tài nghiên cứu mới; thao tác tìm–đọc–lọc thủ công trên Google Scholar, Scopus, OpenAlex tốn nhiều tuần liên tục.</a:t>
            </a:r>
            <a:endParaRPr lang="en-US" sz="1350" dirty="0"/>
          </a:p>
        </p:txBody>
      </p:sp>
      <p:sp>
        <p:nvSpPr>
          <p:cNvPr id="14" name="Shape 9"/>
          <p:cNvSpPr/>
          <p:nvPr/>
        </p:nvSpPr>
        <p:spPr>
          <a:xfrm>
            <a:off x="502920" y="5102352"/>
            <a:ext cx="402336" cy="402336"/>
          </a:xfrm>
          <a:prstGeom prst="ellipse">
            <a:avLst/>
          </a:prstGeom>
          <a:solidFill>
            <a:srgbClr val="F59E0B"/>
          </a:solidFill>
          <a:ln/>
        </p:spPr>
        <p:txBody>
          <a:bodyPr/>
          <a:lstStyle/>
          <a:p>
            <a:endParaRPr lang="en-US"/>
          </a:p>
        </p:txBody>
      </p:sp>
      <p:pic>
        <p:nvPicPr>
          <p:cNvPr id="15" name="Image 3" descr="/home/claude/pptx_build/icons/alertTriangle_white.png"/>
          <p:cNvPicPr>
            <a:picLocks noChangeAspect="1"/>
          </p:cNvPicPr>
          <p:nvPr/>
        </p:nvPicPr>
        <p:blipFill>
          <a:blip r:embed="rId6"/>
          <a:stretch>
            <a:fillRect/>
          </a:stretch>
        </p:blipFill>
        <p:spPr>
          <a:xfrm>
            <a:off x="599481" y="5198913"/>
            <a:ext cx="209215" cy="209215"/>
          </a:xfrm>
          <a:prstGeom prst="rect">
            <a:avLst/>
          </a:prstGeom>
          <a:ln/>
        </p:spPr>
      </p:pic>
      <p:sp>
        <p:nvSpPr>
          <p:cNvPr id="16" name="Text 10"/>
          <p:cNvSpPr/>
          <p:nvPr/>
        </p:nvSpPr>
        <p:spPr>
          <a:xfrm>
            <a:off x="1033272" y="5074920"/>
            <a:ext cx="5779008" cy="868680"/>
          </a:xfrm>
          <a:prstGeom prst="rect">
            <a:avLst/>
          </a:prstGeom>
          <a:noFill/>
          <a:ln/>
        </p:spPr>
        <p:txBody>
          <a:bodyPr wrap="square" rtlCol="0" anchor="t"/>
          <a:lstStyle/>
          <a:p>
            <a:pPr marL="0" indent="0">
              <a:lnSpc>
                <a:spcPct val="118000"/>
              </a:lnSpc>
              <a:buNone/>
            </a:pPr>
            <a:r>
              <a:rPr lang="en-US" sz="1350" b="1" dirty="0">
                <a:solidFill>
                  <a:srgbClr val="0F172A"/>
                </a:solidFill>
                <a:latin typeface="Calibri" pitchFamily="34" charset="0"/>
                <a:ea typeface="Calibri" pitchFamily="34" charset="-122"/>
                <a:cs typeface="Calibri" pitchFamily="34" charset="-120"/>
              </a:rPr>
              <a:t>Hệ quả
</a:t>
            </a:r>
            <a:endParaRPr lang="en-US" sz="1350" dirty="0"/>
          </a:p>
          <a:p>
            <a:pPr marL="0" indent="0">
              <a:lnSpc>
                <a:spcPct val="118000"/>
              </a:lnSpc>
              <a:buNone/>
            </a:pPr>
            <a:r>
              <a:rPr lang="en-US" sz="1250" dirty="0">
                <a:solidFill>
                  <a:srgbClr val="334155"/>
                </a:solidFill>
                <a:latin typeface="Calibri" pitchFamily="34" charset="0"/>
                <a:ea typeface="Calibri" pitchFamily="34" charset="-122"/>
                <a:cs typeface="Calibri" pitchFamily="34" charset="-120"/>
              </a:rPr>
              <a:t>Dễ bỏ sót nguồn trích dẫn cốt lõi, hoặc vô tình đưa vào bài không đạt chuẩn Scopus/PRISMA — ảnh hưởng chất lượng tổng quan.</a:t>
            </a:r>
            <a:endParaRPr lang="en-US" sz="1350" dirty="0"/>
          </a:p>
        </p:txBody>
      </p:sp>
      <p:sp>
        <p:nvSpPr>
          <p:cNvPr id="17" name="Shape 11"/>
          <p:cNvSpPr/>
          <p:nvPr/>
        </p:nvSpPr>
        <p:spPr>
          <a:xfrm>
            <a:off x="7132320" y="2084832"/>
            <a:ext cx="4556455" cy="1417320"/>
          </a:xfrm>
          <a:prstGeom prst="roundRect">
            <a:avLst>
              <a:gd name="adj" fmla="val 6452"/>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18" name="Shape 12"/>
          <p:cNvSpPr/>
          <p:nvPr/>
        </p:nvSpPr>
        <p:spPr>
          <a:xfrm>
            <a:off x="7132320" y="2084832"/>
            <a:ext cx="82296" cy="1417320"/>
          </a:xfrm>
          <a:prstGeom prst="roundRect">
            <a:avLst/>
          </a:prstGeom>
          <a:ln/>
        </p:spPr>
        <p:txBody>
          <a:bodyPr/>
          <a:lstStyle/>
          <a:p>
            <a:endParaRPr lang="en-US"/>
          </a:p>
        </p:txBody>
      </p:sp>
      <p:sp>
        <p:nvSpPr>
          <p:cNvPr id="19" name="Text 13"/>
          <p:cNvSpPr/>
          <p:nvPr/>
        </p:nvSpPr>
        <p:spPr>
          <a:xfrm>
            <a:off x="7360920" y="2194560"/>
            <a:ext cx="4099255" cy="566928"/>
          </a:xfrm>
          <a:prstGeom prst="rect">
            <a:avLst/>
          </a:prstGeom>
          <a:noFill/>
          <a:ln/>
        </p:spPr>
        <p:txBody>
          <a:bodyPr wrap="square" rtlCol="0" anchor="ctr"/>
          <a:lstStyle/>
          <a:p>
            <a:pPr marL="0" indent="0" algn="l">
              <a:buNone/>
            </a:pPr>
            <a:r>
              <a:rPr lang="en-US" sz="3000" b="1" dirty="0">
                <a:solidFill>
                  <a:srgbClr val="F59E0B"/>
                </a:solidFill>
                <a:latin typeface="Arial" pitchFamily="34" charset="0"/>
                <a:ea typeface="Arial" pitchFamily="34" charset="-122"/>
                <a:cs typeface="Arial" pitchFamily="34" charset="-120"/>
              </a:rPr>
              <a:t>Hàng tuần</a:t>
            </a:r>
            <a:endParaRPr lang="en-US" sz="3000" dirty="0"/>
          </a:p>
        </p:txBody>
      </p:sp>
      <p:sp>
        <p:nvSpPr>
          <p:cNvPr id="20" name="Text 14"/>
          <p:cNvSpPr/>
          <p:nvPr/>
        </p:nvSpPr>
        <p:spPr>
          <a:xfrm>
            <a:off x="7360920" y="2761488"/>
            <a:ext cx="4099255" cy="640080"/>
          </a:xfrm>
          <a:prstGeom prst="rect">
            <a:avLst/>
          </a:prstGeom>
          <a:noFill/>
          <a:ln/>
        </p:spPr>
        <p:txBody>
          <a:bodyPr wrap="square" rtlCol="0" anchor="t"/>
          <a:lstStyle/>
          <a:p>
            <a:pPr marL="0" indent="0" algn="l">
              <a:lnSpc>
                <a:spcPct val="120000"/>
              </a:lnSpc>
              <a:buNone/>
            </a:pPr>
            <a:r>
              <a:rPr lang="en-US" sz="1200" dirty="0">
                <a:solidFill>
                  <a:srgbClr val="64748B"/>
                </a:solidFill>
                <a:latin typeface="Calibri" pitchFamily="34" charset="0"/>
                <a:ea typeface="Calibri" pitchFamily="34" charset="-122"/>
                <a:cs typeface="Calibri" pitchFamily="34" charset="-120"/>
              </a:rPr>
              <a:t>thời gian trung bình để hoàn tất một vòng SLR thủ công</a:t>
            </a:r>
            <a:endParaRPr lang="en-US" sz="1200" dirty="0"/>
          </a:p>
        </p:txBody>
      </p:sp>
      <p:sp>
        <p:nvSpPr>
          <p:cNvPr id="21" name="Shape 15"/>
          <p:cNvSpPr/>
          <p:nvPr/>
        </p:nvSpPr>
        <p:spPr>
          <a:xfrm>
            <a:off x="7132320" y="3685032"/>
            <a:ext cx="4556455" cy="1417320"/>
          </a:xfrm>
          <a:prstGeom prst="roundRect">
            <a:avLst>
              <a:gd name="adj" fmla="val 6452"/>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22" name="Shape 16"/>
          <p:cNvSpPr/>
          <p:nvPr/>
        </p:nvSpPr>
        <p:spPr>
          <a:xfrm>
            <a:off x="7132320" y="3685032"/>
            <a:ext cx="82296" cy="1417320"/>
          </a:xfrm>
          <a:prstGeom prst="roundRect">
            <a:avLst/>
          </a:prstGeom>
          <a:ln/>
        </p:spPr>
        <p:txBody>
          <a:bodyPr/>
          <a:lstStyle/>
          <a:p>
            <a:endParaRPr lang="en-US"/>
          </a:p>
        </p:txBody>
      </p:sp>
      <p:sp>
        <p:nvSpPr>
          <p:cNvPr id="23" name="Text 17"/>
          <p:cNvSpPr/>
          <p:nvPr/>
        </p:nvSpPr>
        <p:spPr>
          <a:xfrm>
            <a:off x="7360920" y="3794760"/>
            <a:ext cx="4099255" cy="566928"/>
          </a:xfrm>
          <a:prstGeom prst="rect">
            <a:avLst/>
          </a:prstGeom>
          <a:noFill/>
          <a:ln/>
        </p:spPr>
        <p:txBody>
          <a:bodyPr wrap="square" rtlCol="0" anchor="ctr"/>
          <a:lstStyle/>
          <a:p>
            <a:pPr marL="0" indent="0" algn="l">
              <a:buNone/>
            </a:pPr>
            <a:r>
              <a:rPr lang="en-US" sz="3000" b="1" dirty="0">
                <a:solidFill>
                  <a:srgbClr val="8B5CF6"/>
                </a:solidFill>
                <a:latin typeface="Arial" pitchFamily="34" charset="0"/>
                <a:ea typeface="Arial" pitchFamily="34" charset="-122"/>
                <a:cs typeface="Arial" pitchFamily="34" charset="-120"/>
              </a:rPr>
              <a:t>20+</a:t>
            </a:r>
            <a:endParaRPr lang="en-US" sz="3000" dirty="0"/>
          </a:p>
        </p:txBody>
      </p:sp>
      <p:sp>
        <p:nvSpPr>
          <p:cNvPr id="24" name="Text 18"/>
          <p:cNvSpPr/>
          <p:nvPr/>
        </p:nvSpPr>
        <p:spPr>
          <a:xfrm>
            <a:off x="7360920" y="4361688"/>
            <a:ext cx="4099255" cy="640080"/>
          </a:xfrm>
          <a:prstGeom prst="rect">
            <a:avLst/>
          </a:prstGeom>
          <a:noFill/>
          <a:ln/>
        </p:spPr>
        <p:txBody>
          <a:bodyPr wrap="square" rtlCol="0" anchor="t"/>
          <a:lstStyle/>
          <a:p>
            <a:pPr marL="0" indent="0" algn="l">
              <a:lnSpc>
                <a:spcPct val="120000"/>
              </a:lnSpc>
              <a:buNone/>
            </a:pPr>
            <a:r>
              <a:rPr lang="en-US" sz="1200" dirty="0">
                <a:solidFill>
                  <a:srgbClr val="64748B"/>
                </a:solidFill>
                <a:latin typeface="Calibri" pitchFamily="34" charset="0"/>
                <a:ea typeface="Calibri" pitchFamily="34" charset="-122"/>
                <a:cs typeface="Calibri" pitchFamily="34" charset="-120"/>
              </a:rPr>
              <a:t>bài báo mỗi đề tài cần đối chiếu Scopus/PRISMA bằng tay</a:t>
            </a:r>
            <a:endParaRPr lang="en-US" sz="1200" dirty="0"/>
          </a:p>
        </p:txBody>
      </p:sp>
      <p:sp>
        <p:nvSpPr>
          <p:cNvPr id="25" name="Shape 19"/>
          <p:cNvSpPr/>
          <p:nvPr/>
        </p:nvSpPr>
        <p:spPr>
          <a:xfrm>
            <a:off x="7132320" y="5285232"/>
            <a:ext cx="4556455" cy="1417320"/>
          </a:xfrm>
          <a:prstGeom prst="roundRect">
            <a:avLst>
              <a:gd name="adj" fmla="val 6452"/>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26" name="Shape 20"/>
          <p:cNvSpPr/>
          <p:nvPr/>
        </p:nvSpPr>
        <p:spPr>
          <a:xfrm>
            <a:off x="7132320" y="5285232"/>
            <a:ext cx="82296" cy="1417320"/>
          </a:xfrm>
          <a:prstGeom prst="roundRect">
            <a:avLst/>
          </a:prstGeom>
          <a:ln/>
        </p:spPr>
        <p:txBody>
          <a:bodyPr/>
          <a:lstStyle/>
          <a:p>
            <a:endParaRPr lang="en-US"/>
          </a:p>
        </p:txBody>
      </p:sp>
      <p:sp>
        <p:nvSpPr>
          <p:cNvPr id="27" name="Text 21"/>
          <p:cNvSpPr/>
          <p:nvPr/>
        </p:nvSpPr>
        <p:spPr>
          <a:xfrm>
            <a:off x="7360920" y="5394960"/>
            <a:ext cx="4099255" cy="566928"/>
          </a:xfrm>
          <a:prstGeom prst="rect">
            <a:avLst/>
          </a:prstGeom>
          <a:noFill/>
          <a:ln/>
        </p:spPr>
        <p:txBody>
          <a:bodyPr wrap="square" rtlCol="0" anchor="ctr"/>
          <a:lstStyle/>
          <a:p>
            <a:pPr marL="0" indent="0" algn="l">
              <a:buNone/>
            </a:pPr>
            <a:r>
              <a:rPr lang="en-US" sz="3000" b="1" dirty="0">
                <a:solidFill>
                  <a:srgbClr val="10B981"/>
                </a:solidFill>
                <a:latin typeface="Arial" pitchFamily="34" charset="0"/>
                <a:ea typeface="Arial" pitchFamily="34" charset="-122"/>
                <a:cs typeface="Arial" pitchFamily="34" charset="-120"/>
              </a:rPr>
              <a:t>≥ 50%</a:t>
            </a:r>
            <a:endParaRPr lang="en-US" sz="3000" dirty="0"/>
          </a:p>
        </p:txBody>
      </p:sp>
      <p:sp>
        <p:nvSpPr>
          <p:cNvPr id="28" name="Text 22"/>
          <p:cNvSpPr/>
          <p:nvPr/>
        </p:nvSpPr>
        <p:spPr>
          <a:xfrm>
            <a:off x="7360920" y="5961888"/>
            <a:ext cx="4099255" cy="640080"/>
          </a:xfrm>
          <a:prstGeom prst="rect">
            <a:avLst/>
          </a:prstGeom>
          <a:noFill/>
          <a:ln/>
        </p:spPr>
        <p:txBody>
          <a:bodyPr wrap="square" rtlCol="0" anchor="t"/>
          <a:lstStyle/>
          <a:p>
            <a:pPr marL="0" indent="0" algn="l">
              <a:lnSpc>
                <a:spcPct val="120000"/>
              </a:lnSpc>
              <a:buNone/>
            </a:pPr>
            <a:r>
              <a:rPr lang="en-US" sz="1200" dirty="0">
                <a:solidFill>
                  <a:srgbClr val="64748B"/>
                </a:solidFill>
                <a:latin typeface="Calibri" pitchFamily="34" charset="0"/>
                <a:ea typeface="Calibri" pitchFamily="34" charset="-122"/>
                <a:cs typeface="Calibri" pitchFamily="34" charset="-120"/>
              </a:rPr>
              <a:t>thời gian nhóm đặt mục tiêu cắt giảm để có bản thảo đầu tiên</a:t>
            </a:r>
            <a:endParaRPr lang="en-US" sz="1200" dirty="0"/>
          </a:p>
        </p:txBody>
      </p:sp>
      <p:sp>
        <p:nvSpPr>
          <p:cNvPr id="29" name="Text 23"/>
          <p:cNvSpPr/>
          <p:nvPr/>
        </p:nvSpPr>
        <p:spPr>
          <a:xfrm>
            <a:off x="502920" y="6473952"/>
            <a:ext cx="45720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P-165 · AI20K Build Phase, Cohort 3</a:t>
            </a:r>
            <a:endParaRPr lang="en-US" sz="900" dirty="0"/>
          </a:p>
        </p:txBody>
      </p:sp>
      <p:sp>
        <p:nvSpPr>
          <p:cNvPr id="30" name="Text 24"/>
          <p:cNvSpPr/>
          <p:nvPr/>
        </p:nvSpPr>
        <p:spPr>
          <a:xfrm>
            <a:off x="10591495" y="6473952"/>
            <a:ext cx="109728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47472"/>
            <a:ext cx="310896" cy="310896"/>
          </a:xfrm>
          <a:prstGeom prst="ellipse">
            <a:avLst/>
          </a:prstGeom>
          <a:solidFill>
            <a:srgbClr val="10B981"/>
          </a:solidFill>
          <a:ln/>
        </p:spPr>
        <p:txBody>
          <a:bodyPr/>
          <a:lstStyle/>
          <a:p>
            <a:endParaRPr lang="en-US"/>
          </a:p>
        </p:txBody>
      </p:sp>
      <p:pic>
        <p:nvPicPr>
          <p:cNvPr id="3" name="Image 0" descr="/home/claude/pptx_build/icons/bookOpen_white.png"/>
          <p:cNvPicPr>
            <a:picLocks noChangeAspect="1"/>
          </p:cNvPicPr>
          <p:nvPr/>
        </p:nvPicPr>
        <p:blipFill>
          <a:blip r:embed="rId3"/>
          <a:stretch>
            <a:fillRect/>
          </a:stretch>
        </p:blipFill>
        <p:spPr>
          <a:xfrm>
            <a:off x="566928" y="411480"/>
            <a:ext cx="182880" cy="182880"/>
          </a:xfrm>
          <a:prstGeom prst="rect">
            <a:avLst/>
          </a:prstGeom>
          <a:ln/>
        </p:spPr>
      </p:pic>
      <p:sp>
        <p:nvSpPr>
          <p:cNvPr id="4" name="Text 1"/>
          <p:cNvSpPr/>
          <p:nvPr/>
        </p:nvSpPr>
        <p:spPr>
          <a:xfrm>
            <a:off x="923544" y="320040"/>
            <a:ext cx="2926080" cy="365760"/>
          </a:xfrm>
          <a:prstGeom prst="rect">
            <a:avLst/>
          </a:prstGeom>
          <a:noFill/>
          <a:ln/>
        </p:spPr>
        <p:txBody>
          <a:bodyPr wrap="square" rtlCol="0" anchor="ctr"/>
          <a:lstStyle/>
          <a:p>
            <a:pPr marL="0" indent="0" algn="l">
              <a:buNone/>
            </a:pPr>
            <a:r>
              <a:rPr lang="en-US" sz="1250" b="1" kern="0" spc="50" dirty="0">
                <a:solidFill>
                  <a:srgbClr val="0F172A"/>
                </a:solidFill>
                <a:latin typeface="Arial" pitchFamily="34" charset="0"/>
                <a:ea typeface="Arial" pitchFamily="34" charset="-122"/>
                <a:cs typeface="Arial" pitchFamily="34" charset="-120"/>
              </a:rPr>
              <a:t>LitReview Agent</a:t>
            </a:r>
            <a:endParaRPr lang="en-US" sz="1250" dirty="0"/>
          </a:p>
        </p:txBody>
      </p:sp>
      <p:sp>
        <p:nvSpPr>
          <p:cNvPr id="5" name="Text 2"/>
          <p:cNvSpPr/>
          <p:nvPr/>
        </p:nvSpPr>
        <p:spPr>
          <a:xfrm>
            <a:off x="502920" y="841248"/>
            <a:ext cx="11185855" cy="292608"/>
          </a:xfrm>
          <a:prstGeom prst="rect">
            <a:avLst/>
          </a:prstGeom>
          <a:noFill/>
          <a:ln/>
        </p:spPr>
        <p:txBody>
          <a:bodyPr wrap="square" rtlCol="0" anchor="ctr"/>
          <a:lstStyle/>
          <a:p>
            <a:pPr marL="0" indent="0" algn="l">
              <a:buNone/>
            </a:pPr>
            <a:r>
              <a:rPr lang="en-US" sz="1250" b="1" kern="0" spc="200" dirty="0">
                <a:solidFill>
                  <a:srgbClr val="10B981"/>
                </a:solidFill>
                <a:latin typeface="Arial" pitchFamily="34" charset="0"/>
                <a:ea typeface="Arial" pitchFamily="34" charset="-122"/>
                <a:cs typeface="Arial" pitchFamily="34" charset="-120"/>
              </a:rPr>
              <a:t>SẢN PHẨM</a:t>
            </a:r>
            <a:endParaRPr lang="en-US" sz="1250" dirty="0"/>
          </a:p>
        </p:txBody>
      </p:sp>
      <p:sp>
        <p:nvSpPr>
          <p:cNvPr id="6" name="Text 3"/>
          <p:cNvSpPr/>
          <p:nvPr/>
        </p:nvSpPr>
        <p:spPr>
          <a:xfrm>
            <a:off x="502920" y="1152144"/>
            <a:ext cx="11185855" cy="777240"/>
          </a:xfrm>
          <a:prstGeom prst="rect">
            <a:avLst/>
          </a:prstGeom>
          <a:noFill/>
          <a:ln/>
        </p:spPr>
        <p:txBody>
          <a:bodyPr wrap="square" rtlCol="0" anchor="t"/>
          <a:lstStyle/>
          <a:p>
            <a:pPr marL="0" indent="0" algn="l">
              <a:lnSpc>
                <a:spcPct val="105000"/>
              </a:lnSpc>
              <a:buNone/>
            </a:pPr>
            <a:r>
              <a:rPr lang="en-US" sz="2700" b="1" dirty="0">
                <a:solidFill>
                  <a:srgbClr val="0F172A"/>
                </a:solidFill>
                <a:latin typeface="Arial" pitchFamily="34" charset="0"/>
                <a:ea typeface="Arial" pitchFamily="34" charset="-122"/>
                <a:cs typeface="Arial" pitchFamily="34" charset="-120"/>
              </a:rPr>
              <a:t>Một luồng nghiên cứu, sáu module khép kín</a:t>
            </a:r>
            <a:endParaRPr lang="en-US" sz="2700" dirty="0"/>
          </a:p>
        </p:txBody>
      </p:sp>
      <p:sp>
        <p:nvSpPr>
          <p:cNvPr id="8" name="Shape 5"/>
          <p:cNvSpPr/>
          <p:nvPr/>
        </p:nvSpPr>
        <p:spPr>
          <a:xfrm>
            <a:off x="502920" y="2066544"/>
            <a:ext cx="11185855" cy="274320"/>
          </a:xfrm>
          <a:prstGeom prst="roundRect">
            <a:avLst>
              <a:gd name="adj" fmla="val 33333"/>
            </a:avLst>
          </a:prstGeom>
          <a:solidFill>
            <a:srgbClr val="F7F9FC"/>
          </a:solidFill>
          <a:ln/>
        </p:spPr>
        <p:txBody>
          <a:bodyPr/>
          <a:lstStyle/>
          <a:p>
            <a:endParaRPr lang="en-US"/>
          </a:p>
        </p:txBody>
      </p:sp>
      <p:sp>
        <p:nvSpPr>
          <p:cNvPr id="9" name="Shape 6"/>
          <p:cNvSpPr/>
          <p:nvPr/>
        </p:nvSpPr>
        <p:spPr>
          <a:xfrm>
            <a:off x="667512" y="2157984"/>
            <a:ext cx="91440" cy="91440"/>
          </a:xfrm>
          <a:prstGeom prst="ellipse">
            <a:avLst/>
          </a:prstGeom>
          <a:solidFill>
            <a:srgbClr val="F59E0B"/>
          </a:solidFill>
          <a:ln/>
        </p:spPr>
        <p:txBody>
          <a:bodyPr/>
          <a:lstStyle/>
          <a:p>
            <a:endParaRPr lang="en-US"/>
          </a:p>
        </p:txBody>
      </p:sp>
      <p:sp>
        <p:nvSpPr>
          <p:cNvPr id="10" name="Shape 7"/>
          <p:cNvSpPr/>
          <p:nvPr/>
        </p:nvSpPr>
        <p:spPr>
          <a:xfrm>
            <a:off x="886968" y="2157984"/>
            <a:ext cx="91440" cy="91440"/>
          </a:xfrm>
          <a:prstGeom prst="ellipse">
            <a:avLst/>
          </a:prstGeom>
          <a:solidFill>
            <a:srgbClr val="8B5CF6"/>
          </a:solidFill>
          <a:ln/>
        </p:spPr>
        <p:txBody>
          <a:bodyPr/>
          <a:lstStyle/>
          <a:p>
            <a:endParaRPr lang="en-US"/>
          </a:p>
        </p:txBody>
      </p:sp>
      <p:sp>
        <p:nvSpPr>
          <p:cNvPr id="11" name="Shape 8"/>
          <p:cNvSpPr/>
          <p:nvPr/>
        </p:nvSpPr>
        <p:spPr>
          <a:xfrm>
            <a:off x="1106424" y="2157984"/>
            <a:ext cx="91440" cy="91440"/>
          </a:xfrm>
          <a:prstGeom prst="ellipse">
            <a:avLst/>
          </a:prstGeom>
          <a:solidFill>
            <a:srgbClr val="10B981"/>
          </a:solidFill>
          <a:ln/>
        </p:spPr>
        <p:txBody>
          <a:bodyPr/>
          <a:lstStyle/>
          <a:p>
            <a:endParaRPr lang="en-US"/>
          </a:p>
        </p:txBody>
      </p:sp>
      <p:sp>
        <p:nvSpPr>
          <p:cNvPr id="12" name="Shape 9"/>
          <p:cNvSpPr/>
          <p:nvPr/>
        </p:nvSpPr>
        <p:spPr>
          <a:xfrm>
            <a:off x="1463040" y="2121408"/>
            <a:ext cx="3291840" cy="164592"/>
          </a:xfrm>
          <a:prstGeom prst="roundRect">
            <a:avLst>
              <a:gd name="adj" fmla="val 50000"/>
            </a:avLst>
          </a:prstGeom>
          <a:solidFill>
            <a:srgbClr val="F1F5F9"/>
          </a:solidFill>
          <a:ln/>
        </p:spPr>
        <p:txBody>
          <a:bodyPr/>
          <a:lstStyle/>
          <a:p>
            <a:endParaRPr lang="en-US"/>
          </a:p>
        </p:txBody>
      </p:sp>
      <p:pic>
        <p:nvPicPr>
          <p:cNvPr id="13" name="Image 1" descr="/home/claude/pptx_build/icons/search_slate.png"/>
          <p:cNvPicPr>
            <a:picLocks noChangeAspect="1"/>
          </p:cNvPicPr>
          <p:nvPr/>
        </p:nvPicPr>
        <p:blipFill>
          <a:blip r:embed="rId4"/>
          <a:stretch>
            <a:fillRect/>
          </a:stretch>
        </p:blipFill>
        <p:spPr>
          <a:xfrm>
            <a:off x="1536192" y="2153412"/>
            <a:ext cx="100584" cy="100584"/>
          </a:xfrm>
          <a:prstGeom prst="rect">
            <a:avLst/>
          </a:prstGeom>
          <a:ln/>
        </p:spPr>
      </p:pic>
      <p:sp>
        <p:nvSpPr>
          <p:cNvPr id="14" name="Shape 10"/>
          <p:cNvSpPr/>
          <p:nvPr/>
        </p:nvSpPr>
        <p:spPr>
          <a:xfrm>
            <a:off x="704088" y="2450592"/>
            <a:ext cx="5145493" cy="118872"/>
          </a:xfrm>
          <a:prstGeom prst="roundRect">
            <a:avLst>
              <a:gd name="adj" fmla="val 46154"/>
            </a:avLst>
          </a:prstGeom>
          <a:solidFill>
            <a:srgbClr val="5B6B89">
              <a:alpha val="35000"/>
            </a:srgbClr>
          </a:solidFill>
          <a:ln/>
        </p:spPr>
        <p:txBody>
          <a:bodyPr/>
          <a:lstStyle/>
          <a:p>
            <a:endParaRPr lang="en-US"/>
          </a:p>
        </p:txBody>
      </p:sp>
      <p:sp>
        <p:nvSpPr>
          <p:cNvPr id="15" name="Shape 11"/>
          <p:cNvSpPr/>
          <p:nvPr/>
        </p:nvSpPr>
        <p:spPr>
          <a:xfrm>
            <a:off x="6297016" y="2450592"/>
            <a:ext cx="3132039" cy="118872"/>
          </a:xfrm>
          <a:prstGeom prst="roundRect">
            <a:avLst>
              <a:gd name="adj" fmla="val 46154"/>
            </a:avLst>
          </a:prstGeom>
          <a:solidFill>
            <a:srgbClr val="5B6B89">
              <a:alpha val="28000"/>
            </a:srgbClr>
          </a:solidFill>
          <a:ln/>
        </p:spPr>
        <p:txBody>
          <a:bodyPr/>
          <a:lstStyle/>
          <a:p>
            <a:endParaRPr lang="en-US"/>
          </a:p>
        </p:txBody>
      </p:sp>
      <p:sp>
        <p:nvSpPr>
          <p:cNvPr id="16" name="Shape 12"/>
          <p:cNvSpPr/>
          <p:nvPr/>
        </p:nvSpPr>
        <p:spPr>
          <a:xfrm>
            <a:off x="9876489" y="2450592"/>
            <a:ext cx="960120" cy="173736"/>
          </a:xfrm>
          <a:prstGeom prst="roundRect">
            <a:avLst>
              <a:gd name="adj" fmla="val 50000"/>
            </a:avLst>
          </a:prstGeom>
          <a:solidFill>
            <a:srgbClr val="6366F1">
              <a:alpha val="75000"/>
            </a:srgbClr>
          </a:solidFill>
          <a:ln/>
        </p:spPr>
        <p:txBody>
          <a:bodyPr/>
          <a:lstStyle/>
          <a:p>
            <a:endParaRPr lang="en-US"/>
          </a:p>
        </p:txBody>
      </p:sp>
      <p:sp>
        <p:nvSpPr>
          <p:cNvPr id="17" name="Text 13"/>
          <p:cNvSpPr/>
          <p:nvPr/>
        </p:nvSpPr>
        <p:spPr>
          <a:xfrm>
            <a:off x="9876489" y="2423160"/>
            <a:ext cx="960120" cy="173736"/>
          </a:xfrm>
          <a:prstGeom prst="rect">
            <a:avLst/>
          </a:prstGeom>
          <a:noFill/>
          <a:ln/>
        </p:spPr>
        <p:txBody>
          <a:bodyPr wrap="square" rtlCol="0" anchor="ctr"/>
          <a:lstStyle/>
          <a:p>
            <a:pPr marL="0" indent="0" algn="ctr">
              <a:buNone/>
            </a:pPr>
            <a:r>
              <a:rPr lang="en-US" sz="750" b="1" dirty="0">
                <a:solidFill>
                  <a:srgbClr val="0F172A"/>
                </a:solidFill>
                <a:latin typeface="Calibri" pitchFamily="34" charset="0"/>
                <a:ea typeface="Calibri" pitchFamily="34" charset="-122"/>
                <a:cs typeface="Calibri" pitchFamily="34" charset="-120"/>
              </a:rPr>
              <a:t>Scopus Q1</a:t>
            </a:r>
            <a:endParaRPr lang="en-US" sz="750" dirty="0"/>
          </a:p>
        </p:txBody>
      </p:sp>
      <p:sp>
        <p:nvSpPr>
          <p:cNvPr id="18" name="Shape 14"/>
          <p:cNvSpPr/>
          <p:nvPr/>
        </p:nvSpPr>
        <p:spPr>
          <a:xfrm>
            <a:off x="704088" y="2670048"/>
            <a:ext cx="5145493" cy="118872"/>
          </a:xfrm>
          <a:prstGeom prst="roundRect">
            <a:avLst>
              <a:gd name="adj" fmla="val 46154"/>
            </a:avLst>
          </a:prstGeom>
          <a:solidFill>
            <a:srgbClr val="5B6B89">
              <a:alpha val="35000"/>
            </a:srgbClr>
          </a:solidFill>
          <a:ln/>
        </p:spPr>
        <p:txBody>
          <a:bodyPr/>
          <a:lstStyle/>
          <a:p>
            <a:endParaRPr lang="en-US"/>
          </a:p>
        </p:txBody>
      </p:sp>
      <p:sp>
        <p:nvSpPr>
          <p:cNvPr id="19" name="Shape 15"/>
          <p:cNvSpPr/>
          <p:nvPr/>
        </p:nvSpPr>
        <p:spPr>
          <a:xfrm>
            <a:off x="6297016" y="2670048"/>
            <a:ext cx="3132039" cy="118872"/>
          </a:xfrm>
          <a:prstGeom prst="roundRect">
            <a:avLst>
              <a:gd name="adj" fmla="val 46154"/>
            </a:avLst>
          </a:prstGeom>
          <a:solidFill>
            <a:srgbClr val="5B6B89">
              <a:alpha val="28000"/>
            </a:srgbClr>
          </a:solidFill>
          <a:ln/>
        </p:spPr>
        <p:txBody>
          <a:bodyPr/>
          <a:lstStyle/>
          <a:p>
            <a:endParaRPr lang="en-US"/>
          </a:p>
        </p:txBody>
      </p:sp>
      <p:sp>
        <p:nvSpPr>
          <p:cNvPr id="20" name="Shape 16"/>
          <p:cNvSpPr/>
          <p:nvPr/>
        </p:nvSpPr>
        <p:spPr>
          <a:xfrm>
            <a:off x="9876489" y="2670048"/>
            <a:ext cx="960120" cy="173736"/>
          </a:xfrm>
          <a:prstGeom prst="roundRect">
            <a:avLst>
              <a:gd name="adj" fmla="val 50000"/>
            </a:avLst>
          </a:prstGeom>
          <a:solidFill>
            <a:srgbClr val="10B981">
              <a:alpha val="75000"/>
            </a:srgbClr>
          </a:solidFill>
          <a:ln/>
        </p:spPr>
        <p:txBody>
          <a:bodyPr/>
          <a:lstStyle/>
          <a:p>
            <a:endParaRPr lang="en-US"/>
          </a:p>
        </p:txBody>
      </p:sp>
      <p:sp>
        <p:nvSpPr>
          <p:cNvPr id="21" name="Text 17"/>
          <p:cNvSpPr/>
          <p:nvPr/>
        </p:nvSpPr>
        <p:spPr>
          <a:xfrm>
            <a:off x="9876489" y="2642616"/>
            <a:ext cx="960120" cy="173736"/>
          </a:xfrm>
          <a:prstGeom prst="rect">
            <a:avLst/>
          </a:prstGeom>
          <a:noFill/>
          <a:ln/>
        </p:spPr>
        <p:txBody>
          <a:bodyPr wrap="square" rtlCol="0" anchor="ctr"/>
          <a:lstStyle/>
          <a:p>
            <a:pPr marL="0" indent="0" algn="ctr">
              <a:buNone/>
            </a:pPr>
            <a:r>
              <a:rPr lang="en-US" sz="750" b="1" dirty="0">
                <a:solidFill>
                  <a:srgbClr val="0F172A"/>
                </a:solidFill>
                <a:latin typeface="Calibri" pitchFamily="34" charset="0"/>
                <a:ea typeface="Calibri" pitchFamily="34" charset="-122"/>
                <a:cs typeface="Calibri" pitchFamily="34" charset="-120"/>
              </a:rPr>
              <a:t>Included</a:t>
            </a:r>
            <a:endParaRPr lang="en-US" sz="750" dirty="0"/>
          </a:p>
        </p:txBody>
      </p:sp>
      <p:sp>
        <p:nvSpPr>
          <p:cNvPr id="22" name="Shape 18"/>
          <p:cNvSpPr/>
          <p:nvPr/>
        </p:nvSpPr>
        <p:spPr>
          <a:xfrm>
            <a:off x="704088" y="2889504"/>
            <a:ext cx="5145493" cy="118872"/>
          </a:xfrm>
          <a:prstGeom prst="roundRect">
            <a:avLst>
              <a:gd name="adj" fmla="val 46154"/>
            </a:avLst>
          </a:prstGeom>
          <a:solidFill>
            <a:srgbClr val="5B6B89">
              <a:alpha val="35000"/>
            </a:srgbClr>
          </a:solidFill>
          <a:ln/>
        </p:spPr>
        <p:txBody>
          <a:bodyPr/>
          <a:lstStyle/>
          <a:p>
            <a:endParaRPr lang="en-US"/>
          </a:p>
        </p:txBody>
      </p:sp>
      <p:sp>
        <p:nvSpPr>
          <p:cNvPr id="23" name="Shape 19"/>
          <p:cNvSpPr/>
          <p:nvPr/>
        </p:nvSpPr>
        <p:spPr>
          <a:xfrm>
            <a:off x="6297016" y="2889504"/>
            <a:ext cx="3132039" cy="118872"/>
          </a:xfrm>
          <a:prstGeom prst="roundRect">
            <a:avLst>
              <a:gd name="adj" fmla="val 46154"/>
            </a:avLst>
          </a:prstGeom>
          <a:solidFill>
            <a:srgbClr val="5B6B89">
              <a:alpha val="28000"/>
            </a:srgbClr>
          </a:solidFill>
          <a:ln/>
        </p:spPr>
        <p:txBody>
          <a:bodyPr/>
          <a:lstStyle/>
          <a:p>
            <a:endParaRPr lang="en-US"/>
          </a:p>
        </p:txBody>
      </p:sp>
      <p:sp>
        <p:nvSpPr>
          <p:cNvPr id="24" name="Shape 20"/>
          <p:cNvSpPr/>
          <p:nvPr/>
        </p:nvSpPr>
        <p:spPr>
          <a:xfrm>
            <a:off x="9876489" y="2889504"/>
            <a:ext cx="960120" cy="173736"/>
          </a:xfrm>
          <a:prstGeom prst="roundRect">
            <a:avLst>
              <a:gd name="adj" fmla="val 50000"/>
            </a:avLst>
          </a:prstGeom>
          <a:solidFill>
            <a:srgbClr val="8B5CF6">
              <a:alpha val="75000"/>
            </a:srgbClr>
          </a:solidFill>
          <a:ln/>
        </p:spPr>
        <p:txBody>
          <a:bodyPr/>
          <a:lstStyle/>
          <a:p>
            <a:endParaRPr lang="en-US"/>
          </a:p>
        </p:txBody>
      </p:sp>
      <p:sp>
        <p:nvSpPr>
          <p:cNvPr id="25" name="Text 21"/>
          <p:cNvSpPr/>
          <p:nvPr/>
        </p:nvSpPr>
        <p:spPr>
          <a:xfrm>
            <a:off x="9876489" y="2862072"/>
            <a:ext cx="960120" cy="173736"/>
          </a:xfrm>
          <a:prstGeom prst="rect">
            <a:avLst/>
          </a:prstGeom>
          <a:noFill/>
          <a:ln/>
        </p:spPr>
        <p:txBody>
          <a:bodyPr wrap="square" rtlCol="0" anchor="ctr"/>
          <a:lstStyle/>
          <a:p>
            <a:pPr marL="0" indent="0" algn="ctr">
              <a:buNone/>
            </a:pPr>
            <a:r>
              <a:rPr lang="en-US" sz="750" b="1" dirty="0">
                <a:solidFill>
                  <a:srgbClr val="0F172A"/>
                </a:solidFill>
                <a:latin typeface="Calibri" pitchFamily="34" charset="0"/>
                <a:ea typeface="Calibri" pitchFamily="34" charset="-122"/>
                <a:cs typeface="Calibri" pitchFamily="34" charset="-120"/>
              </a:rPr>
              <a:t>Scopus Q2</a:t>
            </a:r>
            <a:endParaRPr lang="en-US" sz="750" dirty="0"/>
          </a:p>
        </p:txBody>
      </p:sp>
      <p:sp>
        <p:nvSpPr>
          <p:cNvPr id="26" name="Text 22"/>
          <p:cNvSpPr/>
          <p:nvPr/>
        </p:nvSpPr>
        <p:spPr>
          <a:xfrm>
            <a:off x="502920" y="3172968"/>
            <a:ext cx="11185855" cy="219456"/>
          </a:xfrm>
          <a:prstGeom prst="rect">
            <a:avLst/>
          </a:prstGeom>
          <a:noFill/>
          <a:ln/>
        </p:spPr>
        <p:txBody>
          <a:bodyPr wrap="square" rtlCol="0" anchor="ctr"/>
          <a:lstStyle/>
          <a:p>
            <a:pPr marL="0" indent="0" algn="r">
              <a:buNone/>
            </a:pPr>
            <a:r>
              <a:rPr lang="en-US" sz="950" i="1" dirty="0">
                <a:solidFill>
                  <a:srgbClr val="64748B"/>
                </a:solidFill>
                <a:latin typeface="Calibri" pitchFamily="34" charset="0"/>
                <a:ea typeface="Calibri" pitchFamily="34" charset="-122"/>
                <a:cs typeface="Calibri" pitchFamily="34" charset="-120"/>
              </a:rPr>
              <a:t>Mô phỏng giao diện Search &amp; Verify — thay bằng ảnh chụp / GIF demo thực tế khi trình bày.</a:t>
            </a:r>
            <a:endParaRPr lang="en-US" sz="950" dirty="0"/>
          </a:p>
        </p:txBody>
      </p:sp>
      <p:sp>
        <p:nvSpPr>
          <p:cNvPr id="27" name="Shape 23"/>
          <p:cNvSpPr/>
          <p:nvPr/>
        </p:nvSpPr>
        <p:spPr>
          <a:xfrm>
            <a:off x="411480" y="3465763"/>
            <a:ext cx="1572768" cy="329184"/>
          </a:xfrm>
          <a:prstGeom prst="roundRect">
            <a:avLst>
              <a:gd name="adj" fmla="val 50000"/>
            </a:avLst>
          </a:prstGeom>
          <a:solidFill>
            <a:srgbClr val="F1F5F9"/>
          </a:solidFill>
          <a:ln w="9525">
            <a:solidFill>
              <a:srgbClr val="6366F1"/>
            </a:solidFill>
            <a:prstDash val="solid"/>
          </a:ln>
        </p:spPr>
        <p:txBody>
          <a:bodyPr/>
          <a:lstStyle/>
          <a:p>
            <a:endParaRPr lang="en-US" dirty="0"/>
          </a:p>
        </p:txBody>
      </p:sp>
      <p:sp>
        <p:nvSpPr>
          <p:cNvPr id="28" name="Text 24"/>
          <p:cNvSpPr/>
          <p:nvPr/>
        </p:nvSpPr>
        <p:spPr>
          <a:xfrm>
            <a:off x="502920" y="3456432"/>
            <a:ext cx="1572768" cy="329184"/>
          </a:xfrm>
          <a:prstGeom prst="rect">
            <a:avLst/>
          </a:prstGeom>
          <a:noFill/>
          <a:ln/>
        </p:spPr>
        <p:txBody>
          <a:bodyPr wrap="square"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Setup</a:t>
            </a:r>
            <a:endParaRPr lang="en-US" sz="950" dirty="0"/>
          </a:p>
        </p:txBody>
      </p:sp>
      <p:pic>
        <p:nvPicPr>
          <p:cNvPr id="29" name="Image 2" descr="/home/claude/pptx_build/icons/arrowRight_emerald.png"/>
          <p:cNvPicPr>
            <a:picLocks noChangeAspect="1"/>
          </p:cNvPicPr>
          <p:nvPr/>
        </p:nvPicPr>
        <p:blipFill>
          <a:blip r:embed="rId5"/>
          <a:stretch>
            <a:fillRect/>
          </a:stretch>
        </p:blipFill>
        <p:spPr>
          <a:xfrm>
            <a:off x="2093976" y="3538728"/>
            <a:ext cx="164592" cy="164592"/>
          </a:xfrm>
          <a:prstGeom prst="rect">
            <a:avLst/>
          </a:prstGeom>
          <a:ln/>
        </p:spPr>
      </p:pic>
      <p:sp>
        <p:nvSpPr>
          <p:cNvPr id="30" name="Shape 25"/>
          <p:cNvSpPr/>
          <p:nvPr/>
        </p:nvSpPr>
        <p:spPr>
          <a:xfrm>
            <a:off x="2295144" y="3456432"/>
            <a:ext cx="1572768" cy="329184"/>
          </a:xfrm>
          <a:prstGeom prst="roundRect">
            <a:avLst>
              <a:gd name="adj" fmla="val 50000"/>
            </a:avLst>
          </a:prstGeom>
          <a:solidFill>
            <a:srgbClr val="F1F5F9"/>
          </a:solidFill>
          <a:ln w="9525">
            <a:solidFill>
              <a:srgbClr val="6366F1"/>
            </a:solidFill>
            <a:prstDash val="solid"/>
          </a:ln>
        </p:spPr>
        <p:txBody>
          <a:bodyPr/>
          <a:lstStyle/>
          <a:p>
            <a:endParaRPr lang="en-US"/>
          </a:p>
        </p:txBody>
      </p:sp>
      <p:sp>
        <p:nvSpPr>
          <p:cNvPr id="31" name="Text 26"/>
          <p:cNvSpPr/>
          <p:nvPr/>
        </p:nvSpPr>
        <p:spPr>
          <a:xfrm>
            <a:off x="2295144" y="3456432"/>
            <a:ext cx="1572768" cy="329184"/>
          </a:xfrm>
          <a:prstGeom prst="rect">
            <a:avLst/>
          </a:prstGeom>
          <a:noFill/>
          <a:ln/>
        </p:spPr>
        <p:txBody>
          <a:bodyPr wrap="square"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Search &amp; Verify</a:t>
            </a:r>
            <a:endParaRPr lang="en-US" sz="950" dirty="0"/>
          </a:p>
        </p:txBody>
      </p:sp>
      <p:pic>
        <p:nvPicPr>
          <p:cNvPr id="32" name="Image 3" descr="/home/claude/pptx_build/icons/arrowRight_emerald.png"/>
          <p:cNvPicPr>
            <a:picLocks noChangeAspect="1"/>
          </p:cNvPicPr>
          <p:nvPr/>
        </p:nvPicPr>
        <p:blipFill>
          <a:blip r:embed="rId5"/>
          <a:stretch>
            <a:fillRect/>
          </a:stretch>
        </p:blipFill>
        <p:spPr>
          <a:xfrm>
            <a:off x="3886200" y="3538728"/>
            <a:ext cx="164592" cy="164592"/>
          </a:xfrm>
          <a:prstGeom prst="rect">
            <a:avLst/>
          </a:prstGeom>
          <a:ln/>
        </p:spPr>
      </p:pic>
      <p:sp>
        <p:nvSpPr>
          <p:cNvPr id="33" name="Shape 27"/>
          <p:cNvSpPr/>
          <p:nvPr/>
        </p:nvSpPr>
        <p:spPr>
          <a:xfrm>
            <a:off x="4087368" y="3456432"/>
            <a:ext cx="1572768" cy="329184"/>
          </a:xfrm>
          <a:prstGeom prst="roundRect">
            <a:avLst>
              <a:gd name="adj" fmla="val 50000"/>
            </a:avLst>
          </a:prstGeom>
          <a:solidFill>
            <a:srgbClr val="F1F5F9"/>
          </a:solidFill>
          <a:ln w="9525">
            <a:solidFill>
              <a:srgbClr val="6366F1"/>
            </a:solidFill>
            <a:prstDash val="solid"/>
          </a:ln>
        </p:spPr>
        <p:txBody>
          <a:bodyPr/>
          <a:lstStyle/>
          <a:p>
            <a:endParaRPr lang="en-US"/>
          </a:p>
        </p:txBody>
      </p:sp>
      <p:sp>
        <p:nvSpPr>
          <p:cNvPr id="34" name="Text 28"/>
          <p:cNvSpPr/>
          <p:nvPr/>
        </p:nvSpPr>
        <p:spPr>
          <a:xfrm>
            <a:off x="4087368" y="3456432"/>
            <a:ext cx="1572768" cy="329184"/>
          </a:xfrm>
          <a:prstGeom prst="rect">
            <a:avLst/>
          </a:prstGeom>
          <a:noFill/>
          <a:ln/>
        </p:spPr>
        <p:txBody>
          <a:bodyPr wrap="square"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Screening</a:t>
            </a:r>
            <a:endParaRPr lang="en-US" sz="950" dirty="0"/>
          </a:p>
        </p:txBody>
      </p:sp>
      <p:pic>
        <p:nvPicPr>
          <p:cNvPr id="35" name="Image 4" descr="/home/claude/pptx_build/icons/arrowRight_emerald.png"/>
          <p:cNvPicPr>
            <a:picLocks noChangeAspect="1"/>
          </p:cNvPicPr>
          <p:nvPr/>
        </p:nvPicPr>
        <p:blipFill>
          <a:blip r:embed="rId5"/>
          <a:stretch>
            <a:fillRect/>
          </a:stretch>
        </p:blipFill>
        <p:spPr>
          <a:xfrm>
            <a:off x="5678424" y="3538728"/>
            <a:ext cx="164592" cy="164592"/>
          </a:xfrm>
          <a:prstGeom prst="rect">
            <a:avLst/>
          </a:prstGeom>
          <a:ln/>
        </p:spPr>
      </p:pic>
      <p:sp>
        <p:nvSpPr>
          <p:cNvPr id="36" name="Shape 29"/>
          <p:cNvSpPr/>
          <p:nvPr/>
        </p:nvSpPr>
        <p:spPr>
          <a:xfrm>
            <a:off x="5879592" y="3456432"/>
            <a:ext cx="1572768" cy="329184"/>
          </a:xfrm>
          <a:prstGeom prst="roundRect">
            <a:avLst>
              <a:gd name="adj" fmla="val 50000"/>
            </a:avLst>
          </a:prstGeom>
          <a:solidFill>
            <a:srgbClr val="F1F5F9"/>
          </a:solidFill>
          <a:ln w="9525">
            <a:solidFill>
              <a:srgbClr val="6366F1"/>
            </a:solidFill>
            <a:prstDash val="solid"/>
          </a:ln>
        </p:spPr>
        <p:txBody>
          <a:bodyPr/>
          <a:lstStyle/>
          <a:p>
            <a:endParaRPr lang="en-US"/>
          </a:p>
        </p:txBody>
      </p:sp>
      <p:sp>
        <p:nvSpPr>
          <p:cNvPr id="37" name="Text 30"/>
          <p:cNvSpPr/>
          <p:nvPr/>
        </p:nvSpPr>
        <p:spPr>
          <a:xfrm>
            <a:off x="5879592" y="3456432"/>
            <a:ext cx="1572768" cy="329184"/>
          </a:xfrm>
          <a:prstGeom prst="rect">
            <a:avLst/>
          </a:prstGeom>
          <a:noFill/>
          <a:ln/>
        </p:spPr>
        <p:txBody>
          <a:bodyPr wrap="square"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Library / RAG</a:t>
            </a:r>
            <a:endParaRPr lang="en-US" sz="950" dirty="0"/>
          </a:p>
        </p:txBody>
      </p:sp>
      <p:pic>
        <p:nvPicPr>
          <p:cNvPr id="38" name="Image 5" descr="/home/claude/pptx_build/icons/arrowRight_emerald.png"/>
          <p:cNvPicPr>
            <a:picLocks noChangeAspect="1"/>
          </p:cNvPicPr>
          <p:nvPr/>
        </p:nvPicPr>
        <p:blipFill>
          <a:blip r:embed="rId5"/>
          <a:stretch>
            <a:fillRect/>
          </a:stretch>
        </p:blipFill>
        <p:spPr>
          <a:xfrm>
            <a:off x="7470648" y="3538728"/>
            <a:ext cx="164592" cy="164592"/>
          </a:xfrm>
          <a:prstGeom prst="rect">
            <a:avLst/>
          </a:prstGeom>
          <a:ln/>
        </p:spPr>
      </p:pic>
      <p:sp>
        <p:nvSpPr>
          <p:cNvPr id="39" name="Shape 31"/>
          <p:cNvSpPr/>
          <p:nvPr/>
        </p:nvSpPr>
        <p:spPr>
          <a:xfrm>
            <a:off x="7671816" y="3456432"/>
            <a:ext cx="1572768" cy="329184"/>
          </a:xfrm>
          <a:prstGeom prst="roundRect">
            <a:avLst>
              <a:gd name="adj" fmla="val 50000"/>
            </a:avLst>
          </a:prstGeom>
          <a:solidFill>
            <a:srgbClr val="F1F5F9"/>
          </a:solidFill>
          <a:ln w="9525">
            <a:solidFill>
              <a:srgbClr val="6366F1"/>
            </a:solidFill>
            <a:prstDash val="solid"/>
          </a:ln>
        </p:spPr>
        <p:txBody>
          <a:bodyPr/>
          <a:lstStyle/>
          <a:p>
            <a:endParaRPr lang="en-US"/>
          </a:p>
        </p:txBody>
      </p:sp>
      <p:sp>
        <p:nvSpPr>
          <p:cNvPr id="40" name="Text 32"/>
          <p:cNvSpPr/>
          <p:nvPr/>
        </p:nvSpPr>
        <p:spPr>
          <a:xfrm>
            <a:off x="7671816" y="3456432"/>
            <a:ext cx="1572768" cy="329184"/>
          </a:xfrm>
          <a:prstGeom prst="rect">
            <a:avLst/>
          </a:prstGeom>
          <a:noFill/>
          <a:ln/>
        </p:spPr>
        <p:txBody>
          <a:bodyPr wrap="square"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Synthesis</a:t>
            </a:r>
            <a:endParaRPr lang="en-US" sz="950" dirty="0"/>
          </a:p>
        </p:txBody>
      </p:sp>
      <p:pic>
        <p:nvPicPr>
          <p:cNvPr id="41" name="Image 6" descr="/home/claude/pptx_build/icons/arrowRight_emerald.png"/>
          <p:cNvPicPr>
            <a:picLocks noChangeAspect="1"/>
          </p:cNvPicPr>
          <p:nvPr/>
        </p:nvPicPr>
        <p:blipFill>
          <a:blip r:embed="rId5"/>
          <a:stretch>
            <a:fillRect/>
          </a:stretch>
        </p:blipFill>
        <p:spPr>
          <a:xfrm>
            <a:off x="9262872" y="3538728"/>
            <a:ext cx="164592" cy="164592"/>
          </a:xfrm>
          <a:prstGeom prst="rect">
            <a:avLst/>
          </a:prstGeom>
          <a:ln/>
        </p:spPr>
      </p:pic>
      <p:sp>
        <p:nvSpPr>
          <p:cNvPr id="42" name="Shape 33"/>
          <p:cNvSpPr/>
          <p:nvPr/>
        </p:nvSpPr>
        <p:spPr>
          <a:xfrm>
            <a:off x="9464040" y="3456432"/>
            <a:ext cx="1572768" cy="329184"/>
          </a:xfrm>
          <a:prstGeom prst="roundRect">
            <a:avLst>
              <a:gd name="adj" fmla="val 50000"/>
            </a:avLst>
          </a:prstGeom>
          <a:solidFill>
            <a:srgbClr val="F1F5F9"/>
          </a:solidFill>
          <a:ln w="9525">
            <a:solidFill>
              <a:srgbClr val="6366F1"/>
            </a:solidFill>
            <a:prstDash val="solid"/>
          </a:ln>
        </p:spPr>
        <p:txBody>
          <a:bodyPr/>
          <a:lstStyle/>
          <a:p>
            <a:endParaRPr lang="en-US"/>
          </a:p>
        </p:txBody>
      </p:sp>
      <p:sp>
        <p:nvSpPr>
          <p:cNvPr id="43" name="Text 34"/>
          <p:cNvSpPr/>
          <p:nvPr/>
        </p:nvSpPr>
        <p:spPr>
          <a:xfrm>
            <a:off x="9464040" y="3456432"/>
            <a:ext cx="1572768" cy="329184"/>
          </a:xfrm>
          <a:prstGeom prst="rect">
            <a:avLst/>
          </a:prstGeom>
          <a:noFill/>
          <a:ln/>
        </p:spPr>
        <p:txBody>
          <a:bodyPr wrap="square"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Export</a:t>
            </a:r>
            <a:endParaRPr lang="en-US" sz="950" dirty="0"/>
          </a:p>
        </p:txBody>
      </p:sp>
      <p:sp>
        <p:nvSpPr>
          <p:cNvPr id="44" name="Shape 35"/>
          <p:cNvSpPr/>
          <p:nvPr/>
        </p:nvSpPr>
        <p:spPr>
          <a:xfrm>
            <a:off x="502920" y="3968496"/>
            <a:ext cx="3618890" cy="1019556"/>
          </a:xfrm>
          <a:prstGeom prst="roundRect">
            <a:avLst>
              <a:gd name="adj" fmla="val 8969"/>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45" name="Shape 36"/>
          <p:cNvSpPr/>
          <p:nvPr/>
        </p:nvSpPr>
        <p:spPr>
          <a:xfrm>
            <a:off x="649224" y="4096512"/>
            <a:ext cx="310896" cy="310896"/>
          </a:xfrm>
          <a:prstGeom prst="ellipse">
            <a:avLst/>
          </a:prstGeom>
          <a:solidFill>
            <a:srgbClr val="6366F1"/>
          </a:solidFill>
          <a:ln/>
        </p:spPr>
        <p:txBody>
          <a:bodyPr/>
          <a:lstStyle/>
          <a:p>
            <a:endParaRPr lang="en-US"/>
          </a:p>
        </p:txBody>
      </p:sp>
      <p:pic>
        <p:nvPicPr>
          <p:cNvPr id="46" name="Image 7" descr="/home/claude/pptx_build/icons/search_white.png"/>
          <p:cNvPicPr>
            <a:picLocks noChangeAspect="1"/>
          </p:cNvPicPr>
          <p:nvPr/>
        </p:nvPicPr>
        <p:blipFill>
          <a:blip r:embed="rId6"/>
          <a:stretch>
            <a:fillRect/>
          </a:stretch>
        </p:blipFill>
        <p:spPr>
          <a:xfrm>
            <a:off x="723839" y="4171127"/>
            <a:ext cx="161666" cy="161666"/>
          </a:xfrm>
          <a:prstGeom prst="rect">
            <a:avLst/>
          </a:prstGeom>
          <a:ln/>
        </p:spPr>
      </p:pic>
      <p:sp>
        <p:nvSpPr>
          <p:cNvPr id="47" name="Text 37"/>
          <p:cNvSpPr/>
          <p:nvPr/>
        </p:nvSpPr>
        <p:spPr>
          <a:xfrm>
            <a:off x="1033272" y="4069080"/>
            <a:ext cx="2942234" cy="365760"/>
          </a:xfrm>
          <a:prstGeom prst="rect">
            <a:avLst/>
          </a:prstGeom>
          <a:noFill/>
          <a:ln/>
        </p:spPr>
        <p:txBody>
          <a:bodyPr wrap="square" rtlCol="0" anchor="ctr"/>
          <a:lstStyle/>
          <a:p>
            <a:pPr marL="0" indent="0">
              <a:buNone/>
            </a:pPr>
            <a:r>
              <a:rPr lang="en-US" sz="1200" b="1" dirty="0">
                <a:solidFill>
                  <a:srgbClr val="0F172A"/>
                </a:solidFill>
                <a:latin typeface="Arial" pitchFamily="34" charset="0"/>
                <a:ea typeface="Arial" pitchFamily="34" charset="-122"/>
                <a:cs typeface="Arial" pitchFamily="34" charset="-120"/>
              </a:rPr>
              <a:t>Search &amp; Verify</a:t>
            </a:r>
            <a:endParaRPr lang="en-US" sz="1200" dirty="0"/>
          </a:p>
        </p:txBody>
      </p:sp>
      <p:sp>
        <p:nvSpPr>
          <p:cNvPr id="48" name="Text 38"/>
          <p:cNvSpPr/>
          <p:nvPr/>
        </p:nvSpPr>
        <p:spPr>
          <a:xfrm>
            <a:off x="649224" y="4443984"/>
            <a:ext cx="3326282" cy="452628"/>
          </a:xfrm>
          <a:prstGeom prst="rect">
            <a:avLst/>
          </a:prstGeom>
          <a:noFill/>
          <a:ln/>
        </p:spPr>
        <p:txBody>
          <a:bodyPr wrap="square" rtlCol="0" anchor="ctr"/>
          <a:lstStyle/>
          <a:p>
            <a:pPr marL="0" indent="0">
              <a:lnSpc>
                <a:spcPct val="115000"/>
              </a:lnSpc>
              <a:buNone/>
            </a:pPr>
            <a:r>
              <a:rPr lang="en-US" sz="980" dirty="0">
                <a:solidFill>
                  <a:srgbClr val="334155"/>
                </a:solidFill>
                <a:latin typeface="Calibri" pitchFamily="34" charset="0"/>
                <a:ea typeface="Calibri" pitchFamily="34" charset="-122"/>
                <a:cs typeface="Calibri" pitchFamily="34" charset="-120"/>
              </a:rPr>
              <a:t>SerpApi (Google Scholar) + đối chiếu Scopus/OpenAlex tự động, giữ nguyên thứ hạng gốc.</a:t>
            </a:r>
            <a:endParaRPr lang="en-US" sz="980" dirty="0"/>
          </a:p>
        </p:txBody>
      </p:sp>
      <p:sp>
        <p:nvSpPr>
          <p:cNvPr id="49" name="Shape 39"/>
          <p:cNvSpPr/>
          <p:nvPr/>
        </p:nvSpPr>
        <p:spPr>
          <a:xfrm>
            <a:off x="4286402" y="3968496"/>
            <a:ext cx="3618890" cy="1019556"/>
          </a:xfrm>
          <a:prstGeom prst="roundRect">
            <a:avLst>
              <a:gd name="adj" fmla="val 8969"/>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50" name="Shape 40"/>
          <p:cNvSpPr/>
          <p:nvPr/>
        </p:nvSpPr>
        <p:spPr>
          <a:xfrm>
            <a:off x="4432706" y="4096512"/>
            <a:ext cx="310896" cy="310896"/>
          </a:xfrm>
          <a:prstGeom prst="ellipse">
            <a:avLst/>
          </a:prstGeom>
          <a:solidFill>
            <a:srgbClr val="8B5CF6"/>
          </a:solidFill>
          <a:ln/>
        </p:spPr>
        <p:txBody>
          <a:bodyPr/>
          <a:lstStyle/>
          <a:p>
            <a:endParaRPr lang="en-US"/>
          </a:p>
        </p:txBody>
      </p:sp>
      <p:pic>
        <p:nvPicPr>
          <p:cNvPr id="51" name="Image 8" descr="/home/claude/pptx_build/icons/checkSquare_white.png"/>
          <p:cNvPicPr>
            <a:picLocks noChangeAspect="1"/>
          </p:cNvPicPr>
          <p:nvPr/>
        </p:nvPicPr>
        <p:blipFill>
          <a:blip r:embed="rId7"/>
          <a:stretch>
            <a:fillRect/>
          </a:stretch>
        </p:blipFill>
        <p:spPr>
          <a:xfrm>
            <a:off x="4507321" y="4171127"/>
            <a:ext cx="161666" cy="161666"/>
          </a:xfrm>
          <a:prstGeom prst="rect">
            <a:avLst/>
          </a:prstGeom>
          <a:ln/>
        </p:spPr>
      </p:pic>
      <p:sp>
        <p:nvSpPr>
          <p:cNvPr id="52" name="Text 41"/>
          <p:cNvSpPr/>
          <p:nvPr/>
        </p:nvSpPr>
        <p:spPr>
          <a:xfrm>
            <a:off x="4816754" y="4069080"/>
            <a:ext cx="2942234" cy="365760"/>
          </a:xfrm>
          <a:prstGeom prst="rect">
            <a:avLst/>
          </a:prstGeom>
          <a:noFill/>
          <a:ln/>
        </p:spPr>
        <p:txBody>
          <a:bodyPr wrap="square" rtlCol="0" anchor="ctr"/>
          <a:lstStyle/>
          <a:p>
            <a:pPr marL="0" indent="0">
              <a:buNone/>
            </a:pPr>
            <a:r>
              <a:rPr lang="en-US" sz="1200" b="1" dirty="0">
                <a:solidFill>
                  <a:srgbClr val="0F172A"/>
                </a:solidFill>
                <a:latin typeface="Arial" pitchFamily="34" charset="0"/>
                <a:ea typeface="Arial" pitchFamily="34" charset="-122"/>
                <a:cs typeface="Arial" pitchFamily="34" charset="-120"/>
              </a:rPr>
              <a:t>AI Screening</a:t>
            </a:r>
            <a:endParaRPr lang="en-US" sz="1200" dirty="0"/>
          </a:p>
        </p:txBody>
      </p:sp>
      <p:sp>
        <p:nvSpPr>
          <p:cNvPr id="53" name="Text 42"/>
          <p:cNvSpPr/>
          <p:nvPr/>
        </p:nvSpPr>
        <p:spPr>
          <a:xfrm>
            <a:off x="4432706" y="4443984"/>
            <a:ext cx="3326282" cy="452628"/>
          </a:xfrm>
          <a:prstGeom prst="rect">
            <a:avLst/>
          </a:prstGeom>
          <a:noFill/>
          <a:ln/>
        </p:spPr>
        <p:txBody>
          <a:bodyPr wrap="square" rtlCol="0" anchor="ctr"/>
          <a:lstStyle/>
          <a:p>
            <a:pPr marL="0" indent="0">
              <a:lnSpc>
                <a:spcPct val="115000"/>
              </a:lnSpc>
              <a:buNone/>
            </a:pPr>
            <a:r>
              <a:rPr lang="en-US" sz="980" dirty="0">
                <a:solidFill>
                  <a:srgbClr val="334155"/>
                </a:solidFill>
                <a:latin typeface="Calibri" pitchFamily="34" charset="0"/>
                <a:ea typeface="Calibri" pitchFamily="34" charset="-122"/>
                <a:cs typeface="Calibri" pitchFamily="34" charset="-120"/>
              </a:rPr>
              <a:t>LLM &amp; agent fine-tune LoRA chấm Include/Exclude kèm lý do giải thích rõ ràng.</a:t>
            </a:r>
            <a:endParaRPr lang="en-US" sz="980" dirty="0"/>
          </a:p>
        </p:txBody>
      </p:sp>
      <p:sp>
        <p:nvSpPr>
          <p:cNvPr id="54" name="Shape 43"/>
          <p:cNvSpPr/>
          <p:nvPr/>
        </p:nvSpPr>
        <p:spPr>
          <a:xfrm>
            <a:off x="8069885" y="3968496"/>
            <a:ext cx="3618890" cy="1019556"/>
          </a:xfrm>
          <a:prstGeom prst="roundRect">
            <a:avLst>
              <a:gd name="adj" fmla="val 8969"/>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55" name="Shape 44"/>
          <p:cNvSpPr/>
          <p:nvPr/>
        </p:nvSpPr>
        <p:spPr>
          <a:xfrm>
            <a:off x="8216189" y="4096512"/>
            <a:ext cx="310896" cy="310896"/>
          </a:xfrm>
          <a:prstGeom prst="ellipse">
            <a:avLst/>
          </a:prstGeom>
          <a:solidFill>
            <a:srgbClr val="F59E0B"/>
          </a:solidFill>
          <a:ln/>
        </p:spPr>
        <p:txBody>
          <a:bodyPr/>
          <a:lstStyle/>
          <a:p>
            <a:endParaRPr lang="en-US"/>
          </a:p>
        </p:txBody>
      </p:sp>
      <p:pic>
        <p:nvPicPr>
          <p:cNvPr id="56" name="Image 9" descr="/home/claude/pptx_build/icons/shield_white.png"/>
          <p:cNvPicPr>
            <a:picLocks noChangeAspect="1"/>
          </p:cNvPicPr>
          <p:nvPr/>
        </p:nvPicPr>
        <p:blipFill>
          <a:blip r:embed="rId8"/>
          <a:stretch>
            <a:fillRect/>
          </a:stretch>
        </p:blipFill>
        <p:spPr>
          <a:xfrm>
            <a:off x="8290804" y="4171127"/>
            <a:ext cx="161666" cy="161666"/>
          </a:xfrm>
          <a:prstGeom prst="rect">
            <a:avLst/>
          </a:prstGeom>
          <a:ln/>
        </p:spPr>
      </p:pic>
      <p:sp>
        <p:nvSpPr>
          <p:cNvPr id="57" name="Text 45"/>
          <p:cNvSpPr/>
          <p:nvPr/>
        </p:nvSpPr>
        <p:spPr>
          <a:xfrm>
            <a:off x="8600237" y="4069080"/>
            <a:ext cx="2942234" cy="365760"/>
          </a:xfrm>
          <a:prstGeom prst="rect">
            <a:avLst/>
          </a:prstGeom>
          <a:noFill/>
          <a:ln/>
        </p:spPr>
        <p:txBody>
          <a:bodyPr wrap="square" rtlCol="0" anchor="ctr"/>
          <a:lstStyle/>
          <a:p>
            <a:pPr marL="0" indent="0">
              <a:buNone/>
            </a:pPr>
            <a:r>
              <a:rPr lang="en-US" sz="1200" b="1" dirty="0">
                <a:solidFill>
                  <a:srgbClr val="0F172A"/>
                </a:solidFill>
                <a:latin typeface="Arial" pitchFamily="34" charset="0"/>
                <a:ea typeface="Arial" pitchFamily="34" charset="-122"/>
                <a:cs typeface="Arial" pitchFamily="34" charset="-120"/>
              </a:rPr>
              <a:t>Quality Check</a:t>
            </a:r>
            <a:endParaRPr lang="en-US" sz="1200" dirty="0"/>
          </a:p>
        </p:txBody>
      </p:sp>
      <p:sp>
        <p:nvSpPr>
          <p:cNvPr id="58" name="Text 46"/>
          <p:cNvSpPr/>
          <p:nvPr/>
        </p:nvSpPr>
        <p:spPr>
          <a:xfrm>
            <a:off x="8216189" y="4443984"/>
            <a:ext cx="3326282" cy="452628"/>
          </a:xfrm>
          <a:prstGeom prst="rect">
            <a:avLst/>
          </a:prstGeom>
          <a:noFill/>
          <a:ln/>
        </p:spPr>
        <p:txBody>
          <a:bodyPr wrap="square" rtlCol="0" anchor="ctr"/>
          <a:lstStyle/>
          <a:p>
            <a:pPr marL="0" indent="0">
              <a:lnSpc>
                <a:spcPct val="115000"/>
              </a:lnSpc>
              <a:buNone/>
            </a:pPr>
            <a:r>
              <a:rPr lang="en-US" sz="980" dirty="0">
                <a:solidFill>
                  <a:srgbClr val="334155"/>
                </a:solidFill>
                <a:latin typeface="Calibri" pitchFamily="34" charset="0"/>
                <a:ea typeface="Calibri" pitchFamily="34" charset="-122"/>
                <a:cs typeface="Calibri" pitchFamily="34" charset="-120"/>
              </a:rPr>
              <a:t>Gắn nhãn Journal Quartile Q1–Q4 và trạng thái Open Access.</a:t>
            </a:r>
            <a:endParaRPr lang="en-US" sz="980" dirty="0"/>
          </a:p>
        </p:txBody>
      </p:sp>
      <p:sp>
        <p:nvSpPr>
          <p:cNvPr id="59" name="Shape 47"/>
          <p:cNvSpPr/>
          <p:nvPr/>
        </p:nvSpPr>
        <p:spPr>
          <a:xfrm>
            <a:off x="502920" y="5152644"/>
            <a:ext cx="3618890" cy="1019556"/>
          </a:xfrm>
          <a:prstGeom prst="roundRect">
            <a:avLst>
              <a:gd name="adj" fmla="val 8969"/>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60" name="Shape 48"/>
          <p:cNvSpPr/>
          <p:nvPr/>
        </p:nvSpPr>
        <p:spPr>
          <a:xfrm>
            <a:off x="649224" y="5280660"/>
            <a:ext cx="310896" cy="310896"/>
          </a:xfrm>
          <a:prstGeom prst="ellipse">
            <a:avLst/>
          </a:prstGeom>
          <a:solidFill>
            <a:srgbClr val="10B981"/>
          </a:solidFill>
          <a:ln/>
        </p:spPr>
        <p:txBody>
          <a:bodyPr/>
          <a:lstStyle/>
          <a:p>
            <a:endParaRPr lang="en-US"/>
          </a:p>
        </p:txBody>
      </p:sp>
      <p:pic>
        <p:nvPicPr>
          <p:cNvPr id="61" name="Image 10" descr="/home/claude/pptx_build/icons/messageSquare_white.png"/>
          <p:cNvPicPr>
            <a:picLocks noChangeAspect="1"/>
          </p:cNvPicPr>
          <p:nvPr/>
        </p:nvPicPr>
        <p:blipFill>
          <a:blip r:embed="rId9"/>
          <a:stretch>
            <a:fillRect/>
          </a:stretch>
        </p:blipFill>
        <p:spPr>
          <a:xfrm>
            <a:off x="723839" y="5355275"/>
            <a:ext cx="161666" cy="161666"/>
          </a:xfrm>
          <a:prstGeom prst="rect">
            <a:avLst/>
          </a:prstGeom>
          <a:ln/>
        </p:spPr>
      </p:pic>
      <p:sp>
        <p:nvSpPr>
          <p:cNvPr id="62" name="Text 49"/>
          <p:cNvSpPr/>
          <p:nvPr/>
        </p:nvSpPr>
        <p:spPr>
          <a:xfrm>
            <a:off x="1033272" y="5253228"/>
            <a:ext cx="2942234" cy="365760"/>
          </a:xfrm>
          <a:prstGeom prst="rect">
            <a:avLst/>
          </a:prstGeom>
          <a:noFill/>
          <a:ln/>
        </p:spPr>
        <p:txBody>
          <a:bodyPr wrap="square" rtlCol="0" anchor="ctr"/>
          <a:lstStyle/>
          <a:p>
            <a:pPr marL="0" indent="0">
              <a:buNone/>
            </a:pPr>
            <a:r>
              <a:rPr lang="en-US" sz="1200" b="1" dirty="0">
                <a:solidFill>
                  <a:srgbClr val="0F172A"/>
                </a:solidFill>
                <a:latin typeface="Arial" pitchFamily="34" charset="0"/>
                <a:ea typeface="Arial" pitchFamily="34" charset="-122"/>
                <a:cs typeface="Arial" pitchFamily="34" charset="-120"/>
              </a:rPr>
              <a:t>RAG Workspace</a:t>
            </a:r>
            <a:endParaRPr lang="en-US" sz="1200" dirty="0"/>
          </a:p>
        </p:txBody>
      </p:sp>
      <p:sp>
        <p:nvSpPr>
          <p:cNvPr id="63" name="Text 50"/>
          <p:cNvSpPr/>
          <p:nvPr/>
        </p:nvSpPr>
        <p:spPr>
          <a:xfrm>
            <a:off x="649224" y="5628132"/>
            <a:ext cx="3326282" cy="452628"/>
          </a:xfrm>
          <a:prstGeom prst="rect">
            <a:avLst/>
          </a:prstGeom>
          <a:noFill/>
          <a:ln/>
        </p:spPr>
        <p:txBody>
          <a:bodyPr wrap="square" rtlCol="0" anchor="ctr"/>
          <a:lstStyle/>
          <a:p>
            <a:pPr marL="0" indent="0">
              <a:lnSpc>
                <a:spcPct val="115000"/>
              </a:lnSpc>
              <a:buNone/>
            </a:pPr>
            <a:r>
              <a:rPr lang="en-US" sz="980" dirty="0">
                <a:solidFill>
                  <a:srgbClr val="334155"/>
                </a:solidFill>
                <a:latin typeface="Calibri" pitchFamily="34" charset="0"/>
                <a:ea typeface="Calibri" pitchFamily="34" charset="-122"/>
                <a:cs typeface="Calibri" pitchFamily="34" charset="-120"/>
              </a:rPr>
              <a:t>Upload PDF, trò chuyện Q&amp;A có trích dẫn về đúng trang tài liệu gốc.</a:t>
            </a:r>
            <a:endParaRPr lang="en-US" sz="980" dirty="0"/>
          </a:p>
        </p:txBody>
      </p:sp>
      <p:sp>
        <p:nvSpPr>
          <p:cNvPr id="64" name="Shape 51"/>
          <p:cNvSpPr/>
          <p:nvPr/>
        </p:nvSpPr>
        <p:spPr>
          <a:xfrm>
            <a:off x="4286402" y="5152644"/>
            <a:ext cx="3618890" cy="1019556"/>
          </a:xfrm>
          <a:prstGeom prst="roundRect">
            <a:avLst>
              <a:gd name="adj" fmla="val 8969"/>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65" name="Shape 52"/>
          <p:cNvSpPr/>
          <p:nvPr/>
        </p:nvSpPr>
        <p:spPr>
          <a:xfrm>
            <a:off x="4432706" y="5280660"/>
            <a:ext cx="310896" cy="310896"/>
          </a:xfrm>
          <a:prstGeom prst="ellipse">
            <a:avLst/>
          </a:prstGeom>
          <a:solidFill>
            <a:srgbClr val="6366F1"/>
          </a:solidFill>
          <a:ln/>
        </p:spPr>
        <p:txBody>
          <a:bodyPr/>
          <a:lstStyle/>
          <a:p>
            <a:endParaRPr lang="en-US"/>
          </a:p>
        </p:txBody>
      </p:sp>
      <p:pic>
        <p:nvPicPr>
          <p:cNvPr id="66" name="Image 11" descr="/home/claude/pptx_build/icons/layers_white.png"/>
          <p:cNvPicPr>
            <a:picLocks noChangeAspect="1"/>
          </p:cNvPicPr>
          <p:nvPr/>
        </p:nvPicPr>
        <p:blipFill>
          <a:blip r:embed="rId10"/>
          <a:stretch>
            <a:fillRect/>
          </a:stretch>
        </p:blipFill>
        <p:spPr>
          <a:xfrm>
            <a:off x="4507321" y="5355275"/>
            <a:ext cx="161666" cy="161666"/>
          </a:xfrm>
          <a:prstGeom prst="rect">
            <a:avLst/>
          </a:prstGeom>
          <a:ln/>
        </p:spPr>
      </p:pic>
      <p:sp>
        <p:nvSpPr>
          <p:cNvPr id="67" name="Text 53"/>
          <p:cNvSpPr/>
          <p:nvPr/>
        </p:nvSpPr>
        <p:spPr>
          <a:xfrm>
            <a:off x="4816754" y="5253228"/>
            <a:ext cx="2942234" cy="365760"/>
          </a:xfrm>
          <a:prstGeom prst="rect">
            <a:avLst/>
          </a:prstGeom>
          <a:noFill/>
          <a:ln/>
        </p:spPr>
        <p:txBody>
          <a:bodyPr wrap="square" rtlCol="0" anchor="ctr"/>
          <a:lstStyle/>
          <a:p>
            <a:pPr marL="0" indent="0">
              <a:buNone/>
            </a:pPr>
            <a:r>
              <a:rPr lang="en-US" sz="1200" b="1" dirty="0">
                <a:solidFill>
                  <a:srgbClr val="0F172A"/>
                </a:solidFill>
                <a:latin typeface="Arial" pitchFamily="34" charset="0"/>
                <a:ea typeface="Arial" pitchFamily="34" charset="-122"/>
                <a:cs typeface="Arial" pitchFamily="34" charset="-120"/>
              </a:rPr>
              <a:t>Synthesis</a:t>
            </a:r>
            <a:endParaRPr lang="en-US" sz="1200" dirty="0"/>
          </a:p>
        </p:txBody>
      </p:sp>
      <p:sp>
        <p:nvSpPr>
          <p:cNvPr id="68" name="Text 54"/>
          <p:cNvSpPr/>
          <p:nvPr/>
        </p:nvSpPr>
        <p:spPr>
          <a:xfrm>
            <a:off x="4432706" y="5628132"/>
            <a:ext cx="3326282" cy="452628"/>
          </a:xfrm>
          <a:prstGeom prst="rect">
            <a:avLst/>
          </a:prstGeom>
          <a:noFill/>
          <a:ln/>
        </p:spPr>
        <p:txBody>
          <a:bodyPr wrap="square" rtlCol="0" anchor="ctr"/>
          <a:lstStyle/>
          <a:p>
            <a:pPr marL="0" indent="0">
              <a:lnSpc>
                <a:spcPct val="115000"/>
              </a:lnSpc>
              <a:buNone/>
            </a:pPr>
            <a:r>
              <a:rPr lang="en-US" sz="980" dirty="0">
                <a:solidFill>
                  <a:srgbClr val="334155"/>
                </a:solidFill>
                <a:latin typeface="Calibri" pitchFamily="34" charset="0"/>
                <a:ea typeface="Calibri" pitchFamily="34" charset="-122"/>
                <a:cs typeface="Calibri" pitchFamily="34" charset="-120"/>
              </a:rPr>
              <a:t>Map-Reduce đa bài báo; Coverage Expansion Loop đảm bảo không bỏ sót nguồn.</a:t>
            </a:r>
            <a:endParaRPr lang="en-US" sz="980" dirty="0"/>
          </a:p>
        </p:txBody>
      </p:sp>
      <p:sp>
        <p:nvSpPr>
          <p:cNvPr id="69" name="Shape 55"/>
          <p:cNvSpPr/>
          <p:nvPr/>
        </p:nvSpPr>
        <p:spPr>
          <a:xfrm>
            <a:off x="8069885" y="5152644"/>
            <a:ext cx="3618890" cy="1019556"/>
          </a:xfrm>
          <a:prstGeom prst="roundRect">
            <a:avLst>
              <a:gd name="adj" fmla="val 8969"/>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70" name="Shape 56"/>
          <p:cNvSpPr/>
          <p:nvPr/>
        </p:nvSpPr>
        <p:spPr>
          <a:xfrm>
            <a:off x="8216189" y="5280660"/>
            <a:ext cx="310896" cy="310896"/>
          </a:xfrm>
          <a:prstGeom prst="ellipse">
            <a:avLst/>
          </a:prstGeom>
          <a:solidFill>
            <a:srgbClr val="8B5CF6"/>
          </a:solidFill>
          <a:ln/>
        </p:spPr>
        <p:txBody>
          <a:bodyPr/>
          <a:lstStyle/>
          <a:p>
            <a:endParaRPr lang="en-US"/>
          </a:p>
        </p:txBody>
      </p:sp>
      <p:pic>
        <p:nvPicPr>
          <p:cNvPr id="71" name="Image 12" descr="/home/claude/pptx_build/icons/download_white.png"/>
          <p:cNvPicPr>
            <a:picLocks noChangeAspect="1"/>
          </p:cNvPicPr>
          <p:nvPr/>
        </p:nvPicPr>
        <p:blipFill>
          <a:blip r:embed="rId11"/>
          <a:stretch>
            <a:fillRect/>
          </a:stretch>
        </p:blipFill>
        <p:spPr>
          <a:xfrm>
            <a:off x="8290804" y="5355275"/>
            <a:ext cx="161666" cy="161666"/>
          </a:xfrm>
          <a:prstGeom prst="rect">
            <a:avLst/>
          </a:prstGeom>
          <a:ln/>
        </p:spPr>
      </p:pic>
      <p:sp>
        <p:nvSpPr>
          <p:cNvPr id="72" name="Text 57"/>
          <p:cNvSpPr/>
          <p:nvPr/>
        </p:nvSpPr>
        <p:spPr>
          <a:xfrm>
            <a:off x="8600237" y="5253228"/>
            <a:ext cx="2942234" cy="365760"/>
          </a:xfrm>
          <a:prstGeom prst="rect">
            <a:avLst/>
          </a:prstGeom>
          <a:noFill/>
          <a:ln/>
        </p:spPr>
        <p:txBody>
          <a:bodyPr wrap="square" rtlCol="0" anchor="ctr"/>
          <a:lstStyle/>
          <a:p>
            <a:pPr marL="0" indent="0">
              <a:buNone/>
            </a:pPr>
            <a:r>
              <a:rPr lang="en-US" sz="1200" b="1" dirty="0">
                <a:solidFill>
                  <a:srgbClr val="0F172A"/>
                </a:solidFill>
                <a:latin typeface="Arial" pitchFamily="34" charset="0"/>
                <a:ea typeface="Arial" pitchFamily="34" charset="-122"/>
                <a:cs typeface="Arial" pitchFamily="34" charset="-120"/>
              </a:rPr>
              <a:t>Export</a:t>
            </a:r>
            <a:endParaRPr lang="en-US" sz="1200" dirty="0"/>
          </a:p>
        </p:txBody>
      </p:sp>
      <p:sp>
        <p:nvSpPr>
          <p:cNvPr id="73" name="Text 58"/>
          <p:cNvSpPr/>
          <p:nvPr/>
        </p:nvSpPr>
        <p:spPr>
          <a:xfrm>
            <a:off x="8216189" y="5628132"/>
            <a:ext cx="3326282" cy="452628"/>
          </a:xfrm>
          <a:prstGeom prst="rect">
            <a:avLst/>
          </a:prstGeom>
          <a:noFill/>
          <a:ln/>
        </p:spPr>
        <p:txBody>
          <a:bodyPr wrap="square" rtlCol="0" anchor="ctr"/>
          <a:lstStyle/>
          <a:p>
            <a:pPr marL="0" indent="0">
              <a:lnSpc>
                <a:spcPct val="115000"/>
              </a:lnSpc>
              <a:buNone/>
            </a:pPr>
            <a:r>
              <a:rPr lang="en-US" sz="980" dirty="0">
                <a:solidFill>
                  <a:srgbClr val="334155"/>
                </a:solidFill>
                <a:latin typeface="Calibri" pitchFamily="34" charset="0"/>
                <a:ea typeface="Calibri" pitchFamily="34" charset="-122"/>
                <a:cs typeface="Calibri" pitchFamily="34" charset="-120"/>
              </a:rPr>
              <a:t>Xuất Excel, BibTeX, DOCX, PDF — sẵn sàng cho Mendeley/Zotero.</a:t>
            </a:r>
            <a:endParaRPr lang="en-US" sz="980" dirty="0"/>
          </a:p>
        </p:txBody>
      </p:sp>
      <p:sp>
        <p:nvSpPr>
          <p:cNvPr id="74" name="Text 59"/>
          <p:cNvSpPr/>
          <p:nvPr/>
        </p:nvSpPr>
        <p:spPr>
          <a:xfrm>
            <a:off x="502920" y="6473952"/>
            <a:ext cx="45720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P-165 · AI20K Build Phase, Cohort 3</a:t>
            </a:r>
            <a:endParaRPr lang="en-US" sz="900" dirty="0"/>
          </a:p>
        </p:txBody>
      </p:sp>
      <p:sp>
        <p:nvSpPr>
          <p:cNvPr id="75" name="Text 60"/>
          <p:cNvSpPr/>
          <p:nvPr/>
        </p:nvSpPr>
        <p:spPr>
          <a:xfrm>
            <a:off x="10591495" y="6473952"/>
            <a:ext cx="109728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04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47472"/>
            <a:ext cx="310896" cy="310896"/>
          </a:xfrm>
          <a:prstGeom prst="ellipse">
            <a:avLst/>
          </a:prstGeom>
          <a:solidFill>
            <a:srgbClr val="10B981"/>
          </a:solidFill>
          <a:ln/>
        </p:spPr>
        <p:txBody>
          <a:bodyPr/>
          <a:lstStyle/>
          <a:p>
            <a:endParaRPr lang="en-US"/>
          </a:p>
        </p:txBody>
      </p:sp>
      <p:pic>
        <p:nvPicPr>
          <p:cNvPr id="3" name="Image 0" descr="/home/claude/pptx_build/icons/bookOpen_white.png"/>
          <p:cNvPicPr>
            <a:picLocks noChangeAspect="1"/>
          </p:cNvPicPr>
          <p:nvPr/>
        </p:nvPicPr>
        <p:blipFill>
          <a:blip r:embed="rId3"/>
          <a:stretch>
            <a:fillRect/>
          </a:stretch>
        </p:blipFill>
        <p:spPr>
          <a:xfrm>
            <a:off x="566928" y="411480"/>
            <a:ext cx="182880" cy="182880"/>
          </a:xfrm>
          <a:prstGeom prst="rect">
            <a:avLst/>
          </a:prstGeom>
          <a:ln/>
        </p:spPr>
      </p:pic>
      <p:sp>
        <p:nvSpPr>
          <p:cNvPr id="4" name="Text 1"/>
          <p:cNvSpPr/>
          <p:nvPr/>
        </p:nvSpPr>
        <p:spPr>
          <a:xfrm>
            <a:off x="923544" y="320040"/>
            <a:ext cx="2926080" cy="365760"/>
          </a:xfrm>
          <a:prstGeom prst="rect">
            <a:avLst/>
          </a:prstGeom>
          <a:noFill/>
          <a:ln/>
        </p:spPr>
        <p:txBody>
          <a:bodyPr wrap="square" rtlCol="0" anchor="ctr"/>
          <a:lstStyle/>
          <a:p>
            <a:pPr marL="0" indent="0" algn="l">
              <a:buNone/>
            </a:pPr>
            <a:r>
              <a:rPr lang="en-US" sz="1250" b="1" kern="0" spc="50" dirty="0">
                <a:solidFill>
                  <a:srgbClr val="0F172A"/>
                </a:solidFill>
                <a:latin typeface="Arial" pitchFamily="34" charset="0"/>
                <a:ea typeface="Arial" pitchFamily="34" charset="-122"/>
                <a:cs typeface="Arial" pitchFamily="34" charset="-120"/>
              </a:rPr>
              <a:t>LitReview Agent</a:t>
            </a:r>
            <a:endParaRPr lang="en-US" sz="1250" dirty="0"/>
          </a:p>
        </p:txBody>
      </p:sp>
      <p:sp>
        <p:nvSpPr>
          <p:cNvPr id="5" name="Text 2"/>
          <p:cNvSpPr/>
          <p:nvPr/>
        </p:nvSpPr>
        <p:spPr>
          <a:xfrm>
            <a:off x="502920" y="841248"/>
            <a:ext cx="11185855" cy="292608"/>
          </a:xfrm>
          <a:prstGeom prst="rect">
            <a:avLst/>
          </a:prstGeom>
          <a:noFill/>
          <a:ln/>
        </p:spPr>
        <p:txBody>
          <a:bodyPr wrap="square" rtlCol="0" anchor="ctr"/>
          <a:lstStyle/>
          <a:p>
            <a:pPr marL="0" indent="0" algn="l">
              <a:buNone/>
            </a:pPr>
            <a:r>
              <a:rPr lang="en-US" sz="1250" b="1" kern="0" spc="200" dirty="0">
                <a:solidFill>
                  <a:srgbClr val="10B981"/>
                </a:solidFill>
                <a:latin typeface="Arial" pitchFamily="34" charset="0"/>
                <a:ea typeface="Arial" pitchFamily="34" charset="-122"/>
                <a:cs typeface="Arial" pitchFamily="34" charset="-120"/>
              </a:rPr>
              <a:t>KIẾN TRÚC</a:t>
            </a:r>
            <a:endParaRPr lang="en-US" sz="1250" dirty="0"/>
          </a:p>
        </p:txBody>
      </p:sp>
      <p:sp>
        <p:nvSpPr>
          <p:cNvPr id="6" name="Text 3"/>
          <p:cNvSpPr/>
          <p:nvPr/>
        </p:nvSpPr>
        <p:spPr>
          <a:xfrm>
            <a:off x="502920" y="1152144"/>
            <a:ext cx="11185855" cy="777240"/>
          </a:xfrm>
          <a:prstGeom prst="rect">
            <a:avLst/>
          </a:prstGeom>
          <a:noFill/>
          <a:ln/>
        </p:spPr>
        <p:txBody>
          <a:bodyPr wrap="square" rtlCol="0" anchor="t"/>
          <a:lstStyle/>
          <a:p>
            <a:pPr marL="0" indent="0" algn="l">
              <a:lnSpc>
                <a:spcPct val="105000"/>
              </a:lnSpc>
              <a:buNone/>
            </a:pPr>
            <a:r>
              <a:rPr lang="en-US" sz="2700" b="1" dirty="0">
                <a:solidFill>
                  <a:srgbClr val="0F172A"/>
                </a:solidFill>
                <a:latin typeface="Arial" pitchFamily="34" charset="0"/>
                <a:ea typeface="Arial" pitchFamily="34" charset="-122"/>
                <a:cs typeface="Arial" pitchFamily="34" charset="-120"/>
              </a:rPr>
              <a:t>Client–Server kết hợp Agentic Workflow (LangGraph)</a:t>
            </a:r>
            <a:endParaRPr lang="en-US" sz="2700" dirty="0"/>
          </a:p>
        </p:txBody>
      </p:sp>
      <p:sp>
        <p:nvSpPr>
          <p:cNvPr id="7" name="Shape 4"/>
          <p:cNvSpPr/>
          <p:nvPr/>
        </p:nvSpPr>
        <p:spPr>
          <a:xfrm>
            <a:off x="502920" y="2084832"/>
            <a:ext cx="6537960" cy="4133088"/>
          </a:xfrm>
          <a:prstGeom prst="roundRect">
            <a:avLst>
              <a:gd name="adj" fmla="val 2212"/>
            </a:avLst>
          </a:prstGeom>
          <a:solidFill>
            <a:srgbClr val="F1F5F9"/>
          </a:solidFill>
          <a:ln/>
          <a:effectLst>
            <a:outerShdw blurRad="127000" dist="38100" dir="5400000" algn="bl" rotWithShape="0">
              <a:srgbClr val="000000">
                <a:alpha val="28000"/>
              </a:srgbClr>
            </a:outerShdw>
          </a:effectLst>
        </p:spPr>
        <p:txBody>
          <a:bodyPr/>
          <a:lstStyle/>
          <a:p>
            <a:endParaRPr lang="en-US"/>
          </a:p>
        </p:txBody>
      </p:sp>
      <p:sp>
        <p:nvSpPr>
          <p:cNvPr id="8" name="Shape 5"/>
          <p:cNvSpPr/>
          <p:nvPr/>
        </p:nvSpPr>
        <p:spPr>
          <a:xfrm>
            <a:off x="777240" y="2340864"/>
            <a:ext cx="5989320" cy="512064"/>
          </a:xfrm>
          <a:prstGeom prst="roundRect">
            <a:avLst>
              <a:gd name="adj" fmla="val 14286"/>
            </a:avLst>
          </a:prstGeom>
          <a:solidFill>
            <a:srgbClr val="FFFFFF"/>
          </a:solidFill>
          <a:ln w="15875">
            <a:solidFill>
              <a:srgbClr val="6366F1"/>
            </a:solidFill>
            <a:prstDash val="solid"/>
          </a:ln>
        </p:spPr>
        <p:txBody>
          <a:bodyPr/>
          <a:lstStyle/>
          <a:p>
            <a:endParaRPr lang="en-US"/>
          </a:p>
        </p:txBody>
      </p:sp>
      <p:pic>
        <p:nvPicPr>
          <p:cNvPr id="9" name="Image 1" descr="/home/claude/pptx_build/icons/layout_white.png"/>
          <p:cNvPicPr>
            <a:picLocks noChangeAspect="1"/>
          </p:cNvPicPr>
          <p:nvPr/>
        </p:nvPicPr>
        <p:blipFill>
          <a:blip r:embed="rId4"/>
          <a:stretch>
            <a:fillRect/>
          </a:stretch>
        </p:blipFill>
        <p:spPr>
          <a:xfrm>
            <a:off x="923544" y="2459736"/>
            <a:ext cx="274320" cy="274320"/>
          </a:xfrm>
          <a:prstGeom prst="rect">
            <a:avLst/>
          </a:prstGeom>
          <a:ln/>
        </p:spPr>
      </p:pic>
      <p:sp>
        <p:nvSpPr>
          <p:cNvPr id="10" name="Text 6"/>
          <p:cNvSpPr/>
          <p:nvPr/>
        </p:nvSpPr>
        <p:spPr>
          <a:xfrm>
            <a:off x="1307592" y="2340864"/>
            <a:ext cx="5349240" cy="512064"/>
          </a:xfrm>
          <a:prstGeom prst="rect">
            <a:avLst/>
          </a:prstGeom>
          <a:noFill/>
          <a:ln/>
        </p:spPr>
        <p:txBody>
          <a:bodyPr wrap="square" rtlCol="0" anchor="ctr"/>
          <a:lstStyle/>
          <a:p>
            <a:pPr marL="0" indent="0">
              <a:buNone/>
            </a:pPr>
            <a:r>
              <a:rPr lang="en-US" sz="1250" b="1" dirty="0">
                <a:solidFill>
                  <a:srgbClr val="0F172A"/>
                </a:solidFill>
                <a:latin typeface="Arial" pitchFamily="34" charset="0"/>
                <a:ea typeface="Arial" pitchFamily="34" charset="-122"/>
                <a:cs typeface="Arial" pitchFamily="34" charset="-120"/>
              </a:rPr>
              <a:t>Frontend — React / Vite</a:t>
            </a:r>
            <a:endParaRPr lang="en-US" sz="1250" dirty="0"/>
          </a:p>
        </p:txBody>
      </p:sp>
      <p:sp>
        <p:nvSpPr>
          <p:cNvPr id="11" name="Shape 7"/>
          <p:cNvSpPr/>
          <p:nvPr/>
        </p:nvSpPr>
        <p:spPr>
          <a:xfrm>
            <a:off x="777240" y="3054096"/>
            <a:ext cx="5989320" cy="512064"/>
          </a:xfrm>
          <a:prstGeom prst="roundRect">
            <a:avLst>
              <a:gd name="adj" fmla="val 14286"/>
            </a:avLst>
          </a:prstGeom>
          <a:solidFill>
            <a:srgbClr val="FFFFFF"/>
          </a:solidFill>
          <a:ln w="15875">
            <a:solidFill>
              <a:srgbClr val="8B5CF6"/>
            </a:solidFill>
            <a:prstDash val="solid"/>
          </a:ln>
        </p:spPr>
        <p:txBody>
          <a:bodyPr/>
          <a:lstStyle/>
          <a:p>
            <a:endParaRPr lang="en-US"/>
          </a:p>
        </p:txBody>
      </p:sp>
      <p:pic>
        <p:nvPicPr>
          <p:cNvPr id="12" name="Image 2" descr="/home/claude/pptx_build/icons/server_white.png"/>
          <p:cNvPicPr>
            <a:picLocks noChangeAspect="1"/>
          </p:cNvPicPr>
          <p:nvPr/>
        </p:nvPicPr>
        <p:blipFill>
          <a:blip r:embed="rId5"/>
          <a:stretch>
            <a:fillRect/>
          </a:stretch>
        </p:blipFill>
        <p:spPr>
          <a:xfrm>
            <a:off x="923544" y="3172968"/>
            <a:ext cx="274320" cy="274320"/>
          </a:xfrm>
          <a:prstGeom prst="rect">
            <a:avLst/>
          </a:prstGeom>
          <a:ln/>
        </p:spPr>
      </p:pic>
      <p:sp>
        <p:nvSpPr>
          <p:cNvPr id="13" name="Text 8"/>
          <p:cNvSpPr/>
          <p:nvPr/>
        </p:nvSpPr>
        <p:spPr>
          <a:xfrm>
            <a:off x="1307592" y="3054096"/>
            <a:ext cx="5349240" cy="512064"/>
          </a:xfrm>
          <a:prstGeom prst="rect">
            <a:avLst/>
          </a:prstGeom>
          <a:noFill/>
          <a:ln/>
        </p:spPr>
        <p:txBody>
          <a:bodyPr wrap="square" rtlCol="0" anchor="ctr"/>
          <a:lstStyle/>
          <a:p>
            <a:pPr marL="0" indent="0">
              <a:buNone/>
            </a:pPr>
            <a:r>
              <a:rPr lang="en-US" sz="1250" b="1" dirty="0">
                <a:solidFill>
                  <a:srgbClr val="0F172A"/>
                </a:solidFill>
                <a:latin typeface="Arial" pitchFamily="34" charset="0"/>
                <a:ea typeface="Arial" pitchFamily="34" charset="-122"/>
                <a:cs typeface="Arial" pitchFamily="34" charset="-120"/>
              </a:rPr>
              <a:t>FastAPI — REST API Routes</a:t>
            </a:r>
            <a:endParaRPr lang="en-US" sz="1250" dirty="0"/>
          </a:p>
        </p:txBody>
      </p:sp>
      <p:sp>
        <p:nvSpPr>
          <p:cNvPr id="14" name="Shape 9"/>
          <p:cNvSpPr/>
          <p:nvPr/>
        </p:nvSpPr>
        <p:spPr>
          <a:xfrm>
            <a:off x="777240" y="3767328"/>
            <a:ext cx="5989320" cy="512064"/>
          </a:xfrm>
          <a:prstGeom prst="roundRect">
            <a:avLst>
              <a:gd name="adj" fmla="val 14286"/>
            </a:avLst>
          </a:prstGeom>
          <a:solidFill>
            <a:srgbClr val="FFFFFF"/>
          </a:solidFill>
          <a:ln w="15875">
            <a:solidFill>
              <a:srgbClr val="10B981"/>
            </a:solidFill>
            <a:prstDash val="solid"/>
          </a:ln>
        </p:spPr>
        <p:txBody>
          <a:bodyPr/>
          <a:lstStyle/>
          <a:p>
            <a:endParaRPr lang="en-US"/>
          </a:p>
        </p:txBody>
      </p:sp>
      <p:pic>
        <p:nvPicPr>
          <p:cNvPr id="15" name="Image 3" descr="/home/claude/pptx_build/icons/cpu_white.png"/>
          <p:cNvPicPr>
            <a:picLocks noChangeAspect="1"/>
          </p:cNvPicPr>
          <p:nvPr/>
        </p:nvPicPr>
        <p:blipFill>
          <a:blip r:embed="rId6"/>
          <a:stretch>
            <a:fillRect/>
          </a:stretch>
        </p:blipFill>
        <p:spPr>
          <a:xfrm>
            <a:off x="923544" y="3886200"/>
            <a:ext cx="274320" cy="274320"/>
          </a:xfrm>
          <a:prstGeom prst="rect">
            <a:avLst/>
          </a:prstGeom>
          <a:ln/>
        </p:spPr>
      </p:pic>
      <p:sp>
        <p:nvSpPr>
          <p:cNvPr id="16" name="Text 10"/>
          <p:cNvSpPr/>
          <p:nvPr/>
        </p:nvSpPr>
        <p:spPr>
          <a:xfrm>
            <a:off x="1307592" y="3767328"/>
            <a:ext cx="5349240" cy="512064"/>
          </a:xfrm>
          <a:prstGeom prst="rect">
            <a:avLst/>
          </a:prstGeom>
          <a:noFill/>
          <a:ln/>
        </p:spPr>
        <p:txBody>
          <a:bodyPr wrap="square" rtlCol="0" anchor="ctr"/>
          <a:lstStyle/>
          <a:p>
            <a:pPr marL="0" indent="0">
              <a:buNone/>
            </a:pPr>
            <a:r>
              <a:rPr lang="en-US" sz="1250" b="1" dirty="0">
                <a:solidFill>
                  <a:srgbClr val="0F172A"/>
                </a:solidFill>
                <a:latin typeface="Arial" pitchFamily="34" charset="0"/>
                <a:ea typeface="Arial" pitchFamily="34" charset="-122"/>
                <a:cs typeface="Arial" pitchFamily="34" charset="-120"/>
              </a:rPr>
              <a:t>LangGraph Agent Router</a:t>
            </a:r>
            <a:endParaRPr lang="en-US" sz="1250" dirty="0"/>
          </a:p>
        </p:txBody>
      </p:sp>
      <p:sp>
        <p:nvSpPr>
          <p:cNvPr id="17" name="Shape 11"/>
          <p:cNvSpPr/>
          <p:nvPr/>
        </p:nvSpPr>
        <p:spPr>
          <a:xfrm>
            <a:off x="777240" y="4498848"/>
            <a:ext cx="2903220" cy="566928"/>
          </a:xfrm>
          <a:prstGeom prst="roundRect">
            <a:avLst>
              <a:gd name="adj" fmla="val 12903"/>
            </a:avLst>
          </a:prstGeom>
          <a:solidFill>
            <a:srgbClr val="FFFFFF"/>
          </a:solidFill>
          <a:ln w="13970">
            <a:solidFill>
              <a:srgbClr val="F59E0B"/>
            </a:solidFill>
            <a:prstDash val="solid"/>
          </a:ln>
        </p:spPr>
        <p:txBody>
          <a:bodyPr/>
          <a:lstStyle/>
          <a:p>
            <a:endParaRPr lang="en-US"/>
          </a:p>
        </p:txBody>
      </p:sp>
      <p:pic>
        <p:nvPicPr>
          <p:cNvPr id="18" name="Image 4" descr="/home/claude/pptx_build/icons/cpu_white.png"/>
          <p:cNvPicPr>
            <a:picLocks noChangeAspect="1"/>
          </p:cNvPicPr>
          <p:nvPr/>
        </p:nvPicPr>
        <p:blipFill>
          <a:blip r:embed="rId6"/>
          <a:stretch>
            <a:fillRect/>
          </a:stretch>
        </p:blipFill>
        <p:spPr>
          <a:xfrm>
            <a:off x="905256" y="4636008"/>
            <a:ext cx="256032" cy="256032"/>
          </a:xfrm>
          <a:prstGeom prst="rect">
            <a:avLst/>
          </a:prstGeom>
          <a:ln/>
        </p:spPr>
      </p:pic>
      <p:sp>
        <p:nvSpPr>
          <p:cNvPr id="19" name="Text 12"/>
          <p:cNvSpPr/>
          <p:nvPr/>
        </p:nvSpPr>
        <p:spPr>
          <a:xfrm>
            <a:off x="1234440" y="4498848"/>
            <a:ext cx="2336292" cy="566928"/>
          </a:xfrm>
          <a:prstGeom prst="rect">
            <a:avLst/>
          </a:prstGeom>
          <a:noFill/>
          <a:ln/>
        </p:spPr>
        <p:txBody>
          <a:bodyPr wrap="square" rtlCol="0" anchor="ctr"/>
          <a:lstStyle/>
          <a:p>
            <a:pPr marL="0" indent="0">
              <a:lnSpc>
                <a:spcPct val="105000"/>
              </a:lnSpc>
              <a:buNone/>
            </a:pPr>
            <a:r>
              <a:rPr lang="en-US" sz="1000" b="1" dirty="0">
                <a:solidFill>
                  <a:srgbClr val="0F172A"/>
                </a:solidFill>
                <a:latin typeface="Calibri" pitchFamily="34" charset="0"/>
                <a:ea typeface="Calibri" pitchFamily="34" charset="-122"/>
                <a:cs typeface="Calibri" pitchFamily="34" charset="-120"/>
              </a:rPr>
              <a:t>LLM Service (Gemini / OpenAI / OpenRouter)</a:t>
            </a:r>
            <a:endParaRPr lang="en-US" sz="1000" dirty="0"/>
          </a:p>
        </p:txBody>
      </p:sp>
      <p:sp>
        <p:nvSpPr>
          <p:cNvPr id="20" name="Shape 13"/>
          <p:cNvSpPr/>
          <p:nvPr/>
        </p:nvSpPr>
        <p:spPr>
          <a:xfrm>
            <a:off x="3863340" y="4498848"/>
            <a:ext cx="2903220" cy="566928"/>
          </a:xfrm>
          <a:prstGeom prst="roundRect">
            <a:avLst>
              <a:gd name="adj" fmla="val 12903"/>
            </a:avLst>
          </a:prstGeom>
          <a:solidFill>
            <a:srgbClr val="FFFFFF"/>
          </a:solidFill>
          <a:ln w="13970">
            <a:solidFill>
              <a:srgbClr val="F59E0B"/>
            </a:solidFill>
            <a:prstDash val="solid"/>
          </a:ln>
        </p:spPr>
        <p:txBody>
          <a:bodyPr/>
          <a:lstStyle/>
          <a:p>
            <a:endParaRPr lang="en-US"/>
          </a:p>
        </p:txBody>
      </p:sp>
      <p:pic>
        <p:nvPicPr>
          <p:cNvPr id="21" name="Image 5" descr="/home/claude/pptx_build/icons/gitBranch_white.png"/>
          <p:cNvPicPr>
            <a:picLocks noChangeAspect="1"/>
          </p:cNvPicPr>
          <p:nvPr/>
        </p:nvPicPr>
        <p:blipFill>
          <a:blip r:embed="rId7"/>
          <a:stretch>
            <a:fillRect/>
          </a:stretch>
        </p:blipFill>
        <p:spPr>
          <a:xfrm>
            <a:off x="3991356" y="4636008"/>
            <a:ext cx="256032" cy="256032"/>
          </a:xfrm>
          <a:prstGeom prst="rect">
            <a:avLst/>
          </a:prstGeom>
          <a:ln/>
        </p:spPr>
      </p:pic>
      <p:sp>
        <p:nvSpPr>
          <p:cNvPr id="22" name="Text 14"/>
          <p:cNvSpPr/>
          <p:nvPr/>
        </p:nvSpPr>
        <p:spPr>
          <a:xfrm>
            <a:off x="4320540" y="4498848"/>
            <a:ext cx="2336292" cy="566928"/>
          </a:xfrm>
          <a:prstGeom prst="rect">
            <a:avLst/>
          </a:prstGeom>
          <a:noFill/>
          <a:ln/>
        </p:spPr>
        <p:txBody>
          <a:bodyPr wrap="square" rtlCol="0" anchor="ctr"/>
          <a:lstStyle/>
          <a:p>
            <a:pPr marL="0" indent="0">
              <a:lnSpc>
                <a:spcPct val="105000"/>
              </a:lnSpc>
              <a:buNone/>
            </a:pPr>
            <a:r>
              <a:rPr lang="en-US" sz="1000" b="1" dirty="0">
                <a:solidFill>
                  <a:srgbClr val="0F172A"/>
                </a:solidFill>
                <a:latin typeface="Calibri" pitchFamily="34" charset="0"/>
                <a:ea typeface="Calibri" pitchFamily="34" charset="-122"/>
                <a:cs typeface="Calibri" pitchFamily="34" charset="-120"/>
              </a:rPr>
              <a:t>Agent Tools (Search, Chấm điểm, Grounding)</a:t>
            </a:r>
            <a:endParaRPr lang="en-US" sz="1000" dirty="0"/>
          </a:p>
        </p:txBody>
      </p:sp>
      <p:sp>
        <p:nvSpPr>
          <p:cNvPr id="23" name="Shape 15"/>
          <p:cNvSpPr/>
          <p:nvPr/>
        </p:nvSpPr>
        <p:spPr>
          <a:xfrm>
            <a:off x="777240" y="5230368"/>
            <a:ext cx="2903220" cy="512064"/>
          </a:xfrm>
          <a:prstGeom prst="roundRect">
            <a:avLst>
              <a:gd name="adj" fmla="val 14286"/>
            </a:avLst>
          </a:prstGeom>
          <a:solidFill>
            <a:srgbClr val="FFFFFF"/>
          </a:solidFill>
          <a:ln w="13970">
            <a:solidFill>
              <a:srgbClr val="10B981"/>
            </a:solidFill>
            <a:prstDash val="solid"/>
          </a:ln>
        </p:spPr>
        <p:txBody>
          <a:bodyPr/>
          <a:lstStyle/>
          <a:p>
            <a:endParaRPr lang="en-US"/>
          </a:p>
        </p:txBody>
      </p:sp>
      <p:pic>
        <p:nvPicPr>
          <p:cNvPr id="24" name="Image 6" descr="/home/claude/pptx_build/icons/database_white.png"/>
          <p:cNvPicPr>
            <a:picLocks noChangeAspect="1"/>
          </p:cNvPicPr>
          <p:nvPr/>
        </p:nvPicPr>
        <p:blipFill>
          <a:blip r:embed="rId8"/>
          <a:stretch>
            <a:fillRect/>
          </a:stretch>
        </p:blipFill>
        <p:spPr>
          <a:xfrm>
            <a:off x="905256" y="5349240"/>
            <a:ext cx="256032" cy="256032"/>
          </a:xfrm>
          <a:prstGeom prst="rect">
            <a:avLst/>
          </a:prstGeom>
          <a:ln/>
        </p:spPr>
      </p:pic>
      <p:sp>
        <p:nvSpPr>
          <p:cNvPr id="25" name="Text 16"/>
          <p:cNvSpPr/>
          <p:nvPr/>
        </p:nvSpPr>
        <p:spPr>
          <a:xfrm>
            <a:off x="1234440" y="5230368"/>
            <a:ext cx="2336292" cy="512064"/>
          </a:xfrm>
          <a:prstGeom prst="rect">
            <a:avLst/>
          </a:prstGeom>
          <a:noFill/>
          <a:ln/>
        </p:spPr>
        <p:txBody>
          <a:bodyPr wrap="square"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PostgreSQL / SQLite</a:t>
            </a:r>
            <a:endParaRPr lang="en-US" sz="1050" dirty="0"/>
          </a:p>
        </p:txBody>
      </p:sp>
      <p:sp>
        <p:nvSpPr>
          <p:cNvPr id="26" name="Shape 17"/>
          <p:cNvSpPr/>
          <p:nvPr/>
        </p:nvSpPr>
        <p:spPr>
          <a:xfrm>
            <a:off x="3863340" y="5230368"/>
            <a:ext cx="2903220" cy="512064"/>
          </a:xfrm>
          <a:prstGeom prst="roundRect">
            <a:avLst>
              <a:gd name="adj" fmla="val 14286"/>
            </a:avLst>
          </a:prstGeom>
          <a:solidFill>
            <a:srgbClr val="FFFFFF"/>
          </a:solidFill>
          <a:ln w="13970">
            <a:solidFill>
              <a:srgbClr val="10B981"/>
            </a:solidFill>
            <a:prstDash val="solid"/>
          </a:ln>
        </p:spPr>
        <p:txBody>
          <a:bodyPr/>
          <a:lstStyle/>
          <a:p>
            <a:endParaRPr lang="en-US"/>
          </a:p>
        </p:txBody>
      </p:sp>
      <p:pic>
        <p:nvPicPr>
          <p:cNvPr id="27" name="Image 7" descr="/home/claude/pptx_build/icons/layers_white.png"/>
          <p:cNvPicPr>
            <a:picLocks noChangeAspect="1"/>
          </p:cNvPicPr>
          <p:nvPr/>
        </p:nvPicPr>
        <p:blipFill>
          <a:blip r:embed="rId9"/>
          <a:stretch>
            <a:fillRect/>
          </a:stretch>
        </p:blipFill>
        <p:spPr>
          <a:xfrm>
            <a:off x="3991356" y="5349240"/>
            <a:ext cx="256032" cy="256032"/>
          </a:xfrm>
          <a:prstGeom prst="rect">
            <a:avLst/>
          </a:prstGeom>
          <a:ln/>
        </p:spPr>
      </p:pic>
      <p:sp>
        <p:nvSpPr>
          <p:cNvPr id="28" name="Text 18"/>
          <p:cNvSpPr/>
          <p:nvPr/>
        </p:nvSpPr>
        <p:spPr>
          <a:xfrm>
            <a:off x="4320540" y="5230368"/>
            <a:ext cx="2336292" cy="512064"/>
          </a:xfrm>
          <a:prstGeom prst="rect">
            <a:avLst/>
          </a:prstGeom>
          <a:noFill/>
          <a:ln/>
        </p:spPr>
        <p:txBody>
          <a:bodyPr wrap="square"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ChromaDB (Vector Store)</a:t>
            </a:r>
            <a:endParaRPr lang="en-US" sz="1050" dirty="0"/>
          </a:p>
        </p:txBody>
      </p:sp>
      <p:sp>
        <p:nvSpPr>
          <p:cNvPr id="29" name="Shape 19"/>
          <p:cNvSpPr/>
          <p:nvPr/>
        </p:nvSpPr>
        <p:spPr>
          <a:xfrm>
            <a:off x="3771900" y="2852928"/>
            <a:ext cx="914" cy="201168"/>
          </a:xfrm>
          <a:prstGeom prst="line">
            <a:avLst/>
          </a:prstGeom>
          <a:noFill/>
          <a:ln w="15875">
            <a:solidFill>
              <a:srgbClr val="94A3B8"/>
            </a:solidFill>
            <a:prstDash val="solid"/>
          </a:ln>
        </p:spPr>
        <p:txBody>
          <a:bodyPr/>
          <a:lstStyle/>
          <a:p>
            <a:endParaRPr lang="en-US"/>
          </a:p>
        </p:txBody>
      </p:sp>
      <p:sp>
        <p:nvSpPr>
          <p:cNvPr id="30" name="Shape 20"/>
          <p:cNvSpPr/>
          <p:nvPr/>
        </p:nvSpPr>
        <p:spPr>
          <a:xfrm>
            <a:off x="3771900" y="3566160"/>
            <a:ext cx="914" cy="201168"/>
          </a:xfrm>
          <a:prstGeom prst="line">
            <a:avLst/>
          </a:prstGeom>
          <a:noFill/>
          <a:ln w="15875">
            <a:solidFill>
              <a:srgbClr val="94A3B8"/>
            </a:solidFill>
            <a:prstDash val="solid"/>
          </a:ln>
        </p:spPr>
        <p:txBody>
          <a:bodyPr/>
          <a:lstStyle/>
          <a:p>
            <a:endParaRPr lang="en-US"/>
          </a:p>
        </p:txBody>
      </p:sp>
      <p:sp>
        <p:nvSpPr>
          <p:cNvPr id="31" name="Shape 21"/>
          <p:cNvSpPr/>
          <p:nvPr/>
        </p:nvSpPr>
        <p:spPr>
          <a:xfrm>
            <a:off x="3771900" y="4480560"/>
            <a:ext cx="914" cy="45720"/>
          </a:xfrm>
          <a:prstGeom prst="line">
            <a:avLst/>
          </a:prstGeom>
          <a:noFill/>
          <a:ln w="15875">
            <a:solidFill>
              <a:srgbClr val="94A3B8"/>
            </a:solidFill>
            <a:prstDash val="solid"/>
          </a:ln>
        </p:spPr>
        <p:txBody>
          <a:bodyPr/>
          <a:lstStyle/>
          <a:p>
            <a:endParaRPr lang="en-US"/>
          </a:p>
        </p:txBody>
      </p:sp>
      <p:sp>
        <p:nvSpPr>
          <p:cNvPr id="32" name="Shape 22"/>
          <p:cNvSpPr/>
          <p:nvPr/>
        </p:nvSpPr>
        <p:spPr>
          <a:xfrm>
            <a:off x="3771900" y="5065776"/>
            <a:ext cx="914" cy="146304"/>
          </a:xfrm>
          <a:prstGeom prst="line">
            <a:avLst/>
          </a:prstGeom>
          <a:noFill/>
          <a:ln w="15875">
            <a:solidFill>
              <a:srgbClr val="94A3B8"/>
            </a:solidFill>
            <a:prstDash val="solid"/>
          </a:ln>
        </p:spPr>
        <p:txBody>
          <a:bodyPr/>
          <a:lstStyle/>
          <a:p>
            <a:endParaRPr lang="en-US"/>
          </a:p>
        </p:txBody>
      </p:sp>
      <p:sp>
        <p:nvSpPr>
          <p:cNvPr id="33" name="Text 23"/>
          <p:cNvSpPr/>
          <p:nvPr/>
        </p:nvSpPr>
        <p:spPr>
          <a:xfrm>
            <a:off x="731520" y="5806440"/>
            <a:ext cx="6080760" cy="32004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Celery + Redis xử lý bất đồng bộ cho tác vụ Synthesis dài hơi, tách khỏi request/response chính.</a:t>
            </a:r>
            <a:endParaRPr lang="en-US" sz="950" dirty="0"/>
          </a:p>
        </p:txBody>
      </p:sp>
      <p:sp>
        <p:nvSpPr>
          <p:cNvPr id="34" name="Text 24"/>
          <p:cNvSpPr/>
          <p:nvPr/>
        </p:nvSpPr>
        <p:spPr>
          <a:xfrm>
            <a:off x="7315200" y="2084832"/>
            <a:ext cx="4373575" cy="365760"/>
          </a:xfrm>
          <a:prstGeom prst="rect">
            <a:avLst/>
          </a:prstGeom>
          <a:noFill/>
          <a:ln/>
        </p:spPr>
        <p:txBody>
          <a:bodyPr wrap="square" rtlCol="0" anchor="ctr"/>
          <a:lstStyle/>
          <a:p>
            <a:pPr marL="0" indent="0">
              <a:buNone/>
            </a:pPr>
            <a:r>
              <a:rPr lang="en-US" sz="1400" b="1" dirty="0">
                <a:solidFill>
                  <a:srgbClr val="0F172A"/>
                </a:solidFill>
                <a:latin typeface="Arial" pitchFamily="34" charset="0"/>
                <a:ea typeface="Arial" pitchFamily="34" charset="-122"/>
                <a:cs typeface="Arial" pitchFamily="34" charset="-120"/>
              </a:rPr>
              <a:t>Vì sao chọn công nghệ này?</a:t>
            </a:r>
            <a:endParaRPr lang="en-US" sz="1400" dirty="0"/>
          </a:p>
        </p:txBody>
      </p:sp>
      <p:sp>
        <p:nvSpPr>
          <p:cNvPr id="35" name="Text 25"/>
          <p:cNvSpPr/>
          <p:nvPr/>
        </p:nvSpPr>
        <p:spPr>
          <a:xfrm>
            <a:off x="7315200" y="2542032"/>
            <a:ext cx="4373575" cy="777240"/>
          </a:xfrm>
          <a:prstGeom prst="rect">
            <a:avLst/>
          </a:prstGeom>
          <a:noFill/>
          <a:ln/>
        </p:spPr>
        <p:txBody>
          <a:bodyPr wrap="square" rtlCol="0" anchor="t"/>
          <a:lstStyle/>
          <a:p>
            <a:pPr marL="0" indent="0">
              <a:lnSpc>
                <a:spcPct val="122000"/>
              </a:lnSpc>
              <a:buNone/>
            </a:pPr>
            <a:r>
              <a:rPr lang="en-US" sz="1250" b="1" dirty="0">
                <a:solidFill>
                  <a:srgbClr val="10B981"/>
                </a:solidFill>
                <a:latin typeface="Calibri" pitchFamily="34" charset="0"/>
                <a:ea typeface="Calibri" pitchFamily="34" charset="-122"/>
                <a:cs typeface="Calibri" pitchFamily="34" charset="-120"/>
              </a:rPr>
              <a:t>FastAPI  </a:t>
            </a:r>
            <a:r>
              <a:rPr lang="en-US" sz="1150" dirty="0">
                <a:solidFill>
                  <a:srgbClr val="334155"/>
                </a:solidFill>
                <a:latin typeface="Calibri" pitchFamily="34" charset="0"/>
                <a:ea typeface="Calibri" pitchFamily="34" charset="-122"/>
                <a:cs typeface="Calibri" pitchFamily="34" charset="-120"/>
              </a:rPr>
              <a:t>Async, tự sinh docs, type-safe với Pydantic.</a:t>
            </a:r>
            <a:endParaRPr lang="en-US" sz="1250" dirty="0"/>
          </a:p>
        </p:txBody>
      </p:sp>
      <p:sp>
        <p:nvSpPr>
          <p:cNvPr id="36" name="Text 26"/>
          <p:cNvSpPr/>
          <p:nvPr/>
        </p:nvSpPr>
        <p:spPr>
          <a:xfrm>
            <a:off x="7315200" y="3383280"/>
            <a:ext cx="4373575" cy="777240"/>
          </a:xfrm>
          <a:prstGeom prst="rect">
            <a:avLst/>
          </a:prstGeom>
          <a:noFill/>
          <a:ln/>
        </p:spPr>
        <p:txBody>
          <a:bodyPr wrap="square" rtlCol="0" anchor="t"/>
          <a:lstStyle/>
          <a:p>
            <a:pPr marL="0" indent="0">
              <a:lnSpc>
                <a:spcPct val="122000"/>
              </a:lnSpc>
              <a:buNone/>
            </a:pPr>
            <a:r>
              <a:rPr lang="en-US" sz="1250" b="1" dirty="0">
                <a:solidFill>
                  <a:srgbClr val="10B981"/>
                </a:solidFill>
                <a:latin typeface="Calibri" pitchFamily="34" charset="0"/>
                <a:ea typeface="Calibri" pitchFamily="34" charset="-122"/>
                <a:cs typeface="Calibri" pitchFamily="34" charset="-120"/>
              </a:rPr>
              <a:t>LangGraph  </a:t>
            </a:r>
            <a:r>
              <a:rPr lang="en-US" sz="1150" dirty="0">
                <a:solidFill>
                  <a:srgbClr val="334155"/>
                </a:solidFill>
                <a:latin typeface="Calibri" pitchFamily="34" charset="0"/>
                <a:ea typeface="Calibri" pitchFamily="34" charset="-122"/>
                <a:cs typeface="Calibri" pitchFamily="34" charset="-120"/>
              </a:rPr>
              <a:t>State machine tường minh cho luồng nhiều bước — hỗ trợ Map-Reduce, checkpoint và HITL interrupt, thay vì chain tuyến tính.</a:t>
            </a:r>
            <a:endParaRPr lang="en-US" sz="1250" dirty="0"/>
          </a:p>
        </p:txBody>
      </p:sp>
      <p:sp>
        <p:nvSpPr>
          <p:cNvPr id="37" name="Text 27"/>
          <p:cNvSpPr/>
          <p:nvPr/>
        </p:nvSpPr>
        <p:spPr>
          <a:xfrm>
            <a:off x="7315200" y="4224528"/>
            <a:ext cx="4373575" cy="777240"/>
          </a:xfrm>
          <a:prstGeom prst="rect">
            <a:avLst/>
          </a:prstGeom>
          <a:noFill/>
          <a:ln/>
        </p:spPr>
        <p:txBody>
          <a:bodyPr wrap="square" rtlCol="0" anchor="t"/>
          <a:lstStyle/>
          <a:p>
            <a:pPr marL="0" indent="0">
              <a:lnSpc>
                <a:spcPct val="122000"/>
              </a:lnSpc>
              <a:buNone/>
            </a:pPr>
            <a:r>
              <a:rPr lang="en-US" sz="1250" b="1" dirty="0">
                <a:solidFill>
                  <a:srgbClr val="10B981"/>
                </a:solidFill>
                <a:latin typeface="Calibri" pitchFamily="34" charset="0"/>
                <a:ea typeface="Calibri" pitchFamily="34" charset="-122"/>
                <a:cs typeface="Calibri" pitchFamily="34" charset="-120"/>
              </a:rPr>
              <a:t>ChromaDB  </a:t>
            </a:r>
            <a:r>
              <a:rPr lang="en-US" sz="1150" dirty="0">
                <a:solidFill>
                  <a:srgbClr val="334155"/>
                </a:solidFill>
                <a:latin typeface="Calibri" pitchFamily="34" charset="0"/>
                <a:ea typeface="Calibri" pitchFamily="34" charset="-122"/>
                <a:cs typeface="Calibri" pitchFamily="34" charset="-120"/>
              </a:rPr>
              <a:t>Nhẹ, chạy Docker/local dễ dàng, tích hợp sẵn LangChain; đủ nhanh ở quy mô hiện tại, nâng cấp Qdrant khi cần scale.</a:t>
            </a:r>
            <a:endParaRPr lang="en-US" sz="1250" dirty="0"/>
          </a:p>
        </p:txBody>
      </p:sp>
      <p:sp>
        <p:nvSpPr>
          <p:cNvPr id="38" name="Text 28"/>
          <p:cNvSpPr/>
          <p:nvPr/>
        </p:nvSpPr>
        <p:spPr>
          <a:xfrm>
            <a:off x="7315200" y="5065776"/>
            <a:ext cx="4373575" cy="777240"/>
          </a:xfrm>
          <a:prstGeom prst="rect">
            <a:avLst/>
          </a:prstGeom>
          <a:noFill/>
          <a:ln/>
        </p:spPr>
        <p:txBody>
          <a:bodyPr wrap="square" rtlCol="0" anchor="t"/>
          <a:lstStyle/>
          <a:p>
            <a:pPr marL="0" indent="0">
              <a:lnSpc>
                <a:spcPct val="122000"/>
              </a:lnSpc>
              <a:buNone/>
            </a:pPr>
            <a:r>
              <a:rPr lang="en-US" sz="1250" b="1" dirty="0">
                <a:solidFill>
                  <a:srgbClr val="10B981"/>
                </a:solidFill>
                <a:latin typeface="Calibri" pitchFamily="34" charset="0"/>
                <a:ea typeface="Calibri" pitchFamily="34" charset="-122"/>
                <a:cs typeface="Calibri" pitchFamily="34" charset="-120"/>
              </a:rPr>
              <a:t>Celery + Redis  </a:t>
            </a:r>
            <a:r>
              <a:rPr lang="en-US" sz="1150" dirty="0">
                <a:solidFill>
                  <a:srgbClr val="334155"/>
                </a:solidFill>
                <a:latin typeface="Calibri" pitchFamily="34" charset="0"/>
                <a:ea typeface="Calibri" pitchFamily="34" charset="-122"/>
                <a:cs typeface="Calibri" pitchFamily="34" charset="-120"/>
              </a:rPr>
              <a:t>Tách tác vụ Synthesis dài hơi khỏi vòng đời HTTP request, tránh timeout.</a:t>
            </a:r>
            <a:endParaRPr lang="en-US" sz="1250" dirty="0"/>
          </a:p>
        </p:txBody>
      </p:sp>
      <p:sp>
        <p:nvSpPr>
          <p:cNvPr id="39" name="Text 29"/>
          <p:cNvSpPr/>
          <p:nvPr/>
        </p:nvSpPr>
        <p:spPr>
          <a:xfrm>
            <a:off x="502920" y="6473952"/>
            <a:ext cx="45720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P-165 · AI20K Build Phase, Cohort 3</a:t>
            </a:r>
            <a:endParaRPr lang="en-US" sz="900" dirty="0"/>
          </a:p>
        </p:txBody>
      </p:sp>
      <p:sp>
        <p:nvSpPr>
          <p:cNvPr id="40" name="Text 30"/>
          <p:cNvSpPr/>
          <p:nvPr/>
        </p:nvSpPr>
        <p:spPr>
          <a:xfrm>
            <a:off x="10591495" y="6473952"/>
            <a:ext cx="109728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05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47472"/>
            <a:ext cx="310896" cy="310896"/>
          </a:xfrm>
          <a:prstGeom prst="ellipse">
            <a:avLst/>
          </a:prstGeom>
          <a:solidFill>
            <a:srgbClr val="10B981"/>
          </a:solidFill>
          <a:ln/>
        </p:spPr>
        <p:txBody>
          <a:bodyPr/>
          <a:lstStyle/>
          <a:p>
            <a:endParaRPr lang="en-US"/>
          </a:p>
        </p:txBody>
      </p:sp>
      <p:pic>
        <p:nvPicPr>
          <p:cNvPr id="3" name="Image 0" descr="/home/claude/pptx_build/icons/bookOpen_white.png"/>
          <p:cNvPicPr>
            <a:picLocks noChangeAspect="1"/>
          </p:cNvPicPr>
          <p:nvPr/>
        </p:nvPicPr>
        <p:blipFill>
          <a:blip r:embed="rId3"/>
          <a:stretch>
            <a:fillRect/>
          </a:stretch>
        </p:blipFill>
        <p:spPr>
          <a:xfrm>
            <a:off x="566928" y="411480"/>
            <a:ext cx="182880" cy="182880"/>
          </a:xfrm>
          <a:prstGeom prst="rect">
            <a:avLst/>
          </a:prstGeom>
          <a:ln/>
        </p:spPr>
      </p:pic>
      <p:sp>
        <p:nvSpPr>
          <p:cNvPr id="4" name="Text 1"/>
          <p:cNvSpPr/>
          <p:nvPr/>
        </p:nvSpPr>
        <p:spPr>
          <a:xfrm>
            <a:off x="923544" y="320040"/>
            <a:ext cx="2926080" cy="365760"/>
          </a:xfrm>
          <a:prstGeom prst="rect">
            <a:avLst/>
          </a:prstGeom>
          <a:noFill/>
          <a:ln/>
        </p:spPr>
        <p:txBody>
          <a:bodyPr wrap="square" rtlCol="0" anchor="ctr"/>
          <a:lstStyle/>
          <a:p>
            <a:pPr marL="0" indent="0" algn="l">
              <a:buNone/>
            </a:pPr>
            <a:r>
              <a:rPr lang="en-US" sz="1250" b="1" kern="0" spc="50" dirty="0">
                <a:solidFill>
                  <a:srgbClr val="0F172A"/>
                </a:solidFill>
                <a:latin typeface="Arial" pitchFamily="34" charset="0"/>
                <a:ea typeface="Arial" pitchFamily="34" charset="-122"/>
                <a:cs typeface="Arial" pitchFamily="34" charset="-120"/>
              </a:rPr>
              <a:t>LitReview Agent</a:t>
            </a:r>
            <a:endParaRPr lang="en-US" sz="1250" dirty="0"/>
          </a:p>
        </p:txBody>
      </p:sp>
      <p:sp>
        <p:nvSpPr>
          <p:cNvPr id="5" name="Text 2"/>
          <p:cNvSpPr/>
          <p:nvPr/>
        </p:nvSpPr>
        <p:spPr>
          <a:xfrm>
            <a:off x="502920" y="841248"/>
            <a:ext cx="11185855" cy="292608"/>
          </a:xfrm>
          <a:prstGeom prst="rect">
            <a:avLst/>
          </a:prstGeom>
          <a:noFill/>
          <a:ln/>
        </p:spPr>
        <p:txBody>
          <a:bodyPr wrap="square" rtlCol="0" anchor="ctr"/>
          <a:lstStyle/>
          <a:p>
            <a:pPr marL="0" indent="0" algn="l">
              <a:buNone/>
            </a:pPr>
            <a:r>
              <a:rPr lang="en-US" sz="1250" b="1" kern="0" spc="200" dirty="0">
                <a:solidFill>
                  <a:srgbClr val="10B981"/>
                </a:solidFill>
                <a:latin typeface="Arial" pitchFamily="34" charset="0"/>
                <a:ea typeface="Arial" pitchFamily="34" charset="-122"/>
                <a:cs typeface="Arial" pitchFamily="34" charset="-120"/>
              </a:rPr>
              <a:t>CÁCH TIẾP CẬN AI</a:t>
            </a:r>
            <a:endParaRPr lang="en-US" sz="1250" dirty="0"/>
          </a:p>
        </p:txBody>
      </p:sp>
      <p:sp>
        <p:nvSpPr>
          <p:cNvPr id="6" name="Text 3"/>
          <p:cNvSpPr/>
          <p:nvPr/>
        </p:nvSpPr>
        <p:spPr>
          <a:xfrm>
            <a:off x="502920" y="1152144"/>
            <a:ext cx="11185855" cy="777240"/>
          </a:xfrm>
          <a:prstGeom prst="rect">
            <a:avLst/>
          </a:prstGeom>
          <a:noFill/>
          <a:ln/>
        </p:spPr>
        <p:txBody>
          <a:bodyPr wrap="square" rtlCol="0" anchor="t"/>
          <a:lstStyle/>
          <a:p>
            <a:pPr marL="0" indent="0" algn="l">
              <a:lnSpc>
                <a:spcPct val="105000"/>
              </a:lnSpc>
              <a:buNone/>
            </a:pPr>
            <a:r>
              <a:rPr lang="en-US" sz="2700" b="1" dirty="0">
                <a:solidFill>
                  <a:srgbClr val="0F172A"/>
                </a:solidFill>
                <a:latin typeface="Arial" pitchFamily="34" charset="0"/>
                <a:ea typeface="Arial" pitchFamily="34" charset="-122"/>
                <a:cs typeface="Arial" pitchFamily="34" charset="-120"/>
              </a:rPr>
              <a:t>RAG có kiểm chứng + Multi-Agent Swarm</a:t>
            </a:r>
            <a:endParaRPr lang="en-US" sz="2700" dirty="0"/>
          </a:p>
        </p:txBody>
      </p:sp>
      <p:sp>
        <p:nvSpPr>
          <p:cNvPr id="7" name="Text 4"/>
          <p:cNvSpPr/>
          <p:nvPr/>
        </p:nvSpPr>
        <p:spPr>
          <a:xfrm>
            <a:off x="502920" y="2039112"/>
            <a:ext cx="4160520" cy="320040"/>
          </a:xfrm>
          <a:prstGeom prst="rect">
            <a:avLst/>
          </a:prstGeom>
          <a:noFill/>
          <a:ln/>
        </p:spPr>
        <p:txBody>
          <a:bodyPr wrap="square" rtlCol="0" anchor="ctr"/>
          <a:lstStyle/>
          <a:p>
            <a:pPr marL="0" indent="0">
              <a:buNone/>
            </a:pPr>
            <a:r>
              <a:rPr lang="en-US" sz="1350" b="1" dirty="0">
                <a:solidFill>
                  <a:srgbClr val="0F172A"/>
                </a:solidFill>
                <a:latin typeface="Arial" pitchFamily="34" charset="0"/>
                <a:ea typeface="Arial" pitchFamily="34" charset="-122"/>
                <a:cs typeface="Arial" pitchFamily="34" charset="-120"/>
              </a:rPr>
              <a:t>RAG Pipeline</a:t>
            </a:r>
            <a:endParaRPr lang="en-US" sz="1350" dirty="0"/>
          </a:p>
        </p:txBody>
      </p:sp>
      <p:sp>
        <p:nvSpPr>
          <p:cNvPr id="8" name="Shape 5"/>
          <p:cNvSpPr/>
          <p:nvPr/>
        </p:nvSpPr>
        <p:spPr>
          <a:xfrm>
            <a:off x="502920" y="2423160"/>
            <a:ext cx="347472" cy="347472"/>
          </a:xfrm>
          <a:prstGeom prst="ellipse">
            <a:avLst/>
          </a:prstGeom>
          <a:solidFill>
            <a:srgbClr val="6366F1"/>
          </a:solidFill>
          <a:ln/>
        </p:spPr>
        <p:txBody>
          <a:bodyPr/>
          <a:lstStyle/>
          <a:p>
            <a:endParaRPr lang="en-US"/>
          </a:p>
        </p:txBody>
      </p:sp>
      <p:pic>
        <p:nvPicPr>
          <p:cNvPr id="9" name="Image 1" descr="/home/claude/pptx_build/icons/fileText_white.png"/>
          <p:cNvPicPr>
            <a:picLocks noChangeAspect="1"/>
          </p:cNvPicPr>
          <p:nvPr/>
        </p:nvPicPr>
        <p:blipFill>
          <a:blip r:embed="rId4"/>
          <a:stretch>
            <a:fillRect/>
          </a:stretch>
        </p:blipFill>
        <p:spPr>
          <a:xfrm>
            <a:off x="586313" y="2506553"/>
            <a:ext cx="180685" cy="180685"/>
          </a:xfrm>
          <a:prstGeom prst="rect">
            <a:avLst/>
          </a:prstGeom>
          <a:ln/>
        </p:spPr>
      </p:pic>
      <p:sp>
        <p:nvSpPr>
          <p:cNvPr id="10" name="Text 6"/>
          <p:cNvSpPr/>
          <p:nvPr/>
        </p:nvSpPr>
        <p:spPr>
          <a:xfrm>
            <a:off x="960120" y="2404872"/>
            <a:ext cx="3703320" cy="384048"/>
          </a:xfrm>
          <a:prstGeom prst="rect">
            <a:avLst/>
          </a:prstGeom>
          <a:noFill/>
          <a:ln/>
        </p:spPr>
        <p:txBody>
          <a:bodyPr wrap="square" rtlCol="0" anchor="ctr"/>
          <a:lstStyle/>
          <a:p>
            <a:pPr marL="0" indent="0">
              <a:lnSpc>
                <a:spcPct val="105000"/>
              </a:lnSpc>
              <a:buNone/>
            </a:pPr>
            <a:r>
              <a:rPr lang="en-US" sz="1100" dirty="0">
                <a:solidFill>
                  <a:srgbClr val="334155"/>
                </a:solidFill>
                <a:latin typeface="Calibri" pitchFamily="34" charset="0"/>
                <a:ea typeface="Calibri" pitchFamily="34" charset="-122"/>
                <a:cs typeface="Calibri" pitchFamily="34" charset="-120"/>
              </a:rPr>
              <a:t>Extract PDF (PyMuPDF)</a:t>
            </a:r>
            <a:endParaRPr lang="en-US" sz="1100" dirty="0"/>
          </a:p>
        </p:txBody>
      </p:sp>
      <p:sp>
        <p:nvSpPr>
          <p:cNvPr id="11" name="Shape 7"/>
          <p:cNvSpPr/>
          <p:nvPr/>
        </p:nvSpPr>
        <p:spPr>
          <a:xfrm>
            <a:off x="676656" y="2770632"/>
            <a:ext cx="914" cy="219456"/>
          </a:xfrm>
          <a:prstGeom prst="line">
            <a:avLst/>
          </a:prstGeom>
          <a:noFill/>
          <a:ln w="12700">
            <a:solidFill>
              <a:srgbClr val="94A3B8"/>
            </a:solidFill>
            <a:prstDash val="solid"/>
          </a:ln>
        </p:spPr>
        <p:txBody>
          <a:bodyPr/>
          <a:lstStyle/>
          <a:p>
            <a:endParaRPr lang="en-US"/>
          </a:p>
        </p:txBody>
      </p:sp>
      <p:sp>
        <p:nvSpPr>
          <p:cNvPr id="12" name="Shape 8"/>
          <p:cNvSpPr/>
          <p:nvPr/>
        </p:nvSpPr>
        <p:spPr>
          <a:xfrm>
            <a:off x="502920" y="2990088"/>
            <a:ext cx="347472" cy="347472"/>
          </a:xfrm>
          <a:prstGeom prst="ellipse">
            <a:avLst/>
          </a:prstGeom>
          <a:solidFill>
            <a:srgbClr val="6366F1"/>
          </a:solidFill>
          <a:ln/>
        </p:spPr>
        <p:txBody>
          <a:bodyPr/>
          <a:lstStyle/>
          <a:p>
            <a:endParaRPr lang="en-US"/>
          </a:p>
        </p:txBody>
      </p:sp>
      <p:pic>
        <p:nvPicPr>
          <p:cNvPr id="13" name="Image 2" descr="/home/claude/pptx_build/icons/scissors_white.png"/>
          <p:cNvPicPr>
            <a:picLocks noChangeAspect="1"/>
          </p:cNvPicPr>
          <p:nvPr/>
        </p:nvPicPr>
        <p:blipFill>
          <a:blip r:embed="rId5"/>
          <a:stretch>
            <a:fillRect/>
          </a:stretch>
        </p:blipFill>
        <p:spPr>
          <a:xfrm>
            <a:off x="586313" y="3073481"/>
            <a:ext cx="180685" cy="180685"/>
          </a:xfrm>
          <a:prstGeom prst="rect">
            <a:avLst/>
          </a:prstGeom>
          <a:ln/>
        </p:spPr>
      </p:pic>
      <p:sp>
        <p:nvSpPr>
          <p:cNvPr id="14" name="Text 9"/>
          <p:cNvSpPr/>
          <p:nvPr/>
        </p:nvSpPr>
        <p:spPr>
          <a:xfrm>
            <a:off x="960120" y="2971800"/>
            <a:ext cx="3703320" cy="384048"/>
          </a:xfrm>
          <a:prstGeom prst="rect">
            <a:avLst/>
          </a:prstGeom>
          <a:noFill/>
          <a:ln/>
        </p:spPr>
        <p:txBody>
          <a:bodyPr wrap="square" rtlCol="0" anchor="ctr"/>
          <a:lstStyle/>
          <a:p>
            <a:pPr marL="0" indent="0">
              <a:lnSpc>
                <a:spcPct val="105000"/>
              </a:lnSpc>
              <a:buNone/>
            </a:pPr>
            <a:r>
              <a:rPr lang="en-US" sz="1100" dirty="0">
                <a:solidFill>
                  <a:srgbClr val="334155"/>
                </a:solidFill>
                <a:latin typeface="Calibri" pitchFamily="34" charset="0"/>
                <a:ea typeface="Calibri" pitchFamily="34" charset="-122"/>
                <a:cs typeface="Calibri" pitchFamily="34" charset="-120"/>
              </a:rPr>
              <a:t>Sliding-window Chunking (~500-1000 tok)</a:t>
            </a:r>
            <a:endParaRPr lang="en-US" sz="1100" dirty="0"/>
          </a:p>
        </p:txBody>
      </p:sp>
      <p:sp>
        <p:nvSpPr>
          <p:cNvPr id="15" name="Shape 10"/>
          <p:cNvSpPr/>
          <p:nvPr/>
        </p:nvSpPr>
        <p:spPr>
          <a:xfrm>
            <a:off x="676656" y="3337560"/>
            <a:ext cx="914" cy="219456"/>
          </a:xfrm>
          <a:prstGeom prst="line">
            <a:avLst/>
          </a:prstGeom>
          <a:noFill/>
          <a:ln w="12700">
            <a:solidFill>
              <a:srgbClr val="94A3B8"/>
            </a:solidFill>
            <a:prstDash val="solid"/>
          </a:ln>
        </p:spPr>
        <p:txBody>
          <a:bodyPr/>
          <a:lstStyle/>
          <a:p>
            <a:endParaRPr lang="en-US"/>
          </a:p>
        </p:txBody>
      </p:sp>
      <p:sp>
        <p:nvSpPr>
          <p:cNvPr id="16" name="Shape 11"/>
          <p:cNvSpPr/>
          <p:nvPr/>
        </p:nvSpPr>
        <p:spPr>
          <a:xfrm>
            <a:off x="502920" y="3557016"/>
            <a:ext cx="347472" cy="347472"/>
          </a:xfrm>
          <a:prstGeom prst="ellipse">
            <a:avLst/>
          </a:prstGeom>
          <a:solidFill>
            <a:srgbClr val="6366F1"/>
          </a:solidFill>
          <a:ln/>
        </p:spPr>
        <p:txBody>
          <a:bodyPr/>
          <a:lstStyle/>
          <a:p>
            <a:endParaRPr lang="en-US"/>
          </a:p>
        </p:txBody>
      </p:sp>
      <p:pic>
        <p:nvPicPr>
          <p:cNvPr id="17" name="Image 3" descr="/home/claude/pptx_build/icons/cpu_white.png"/>
          <p:cNvPicPr>
            <a:picLocks noChangeAspect="1"/>
          </p:cNvPicPr>
          <p:nvPr/>
        </p:nvPicPr>
        <p:blipFill>
          <a:blip r:embed="rId6"/>
          <a:stretch>
            <a:fillRect/>
          </a:stretch>
        </p:blipFill>
        <p:spPr>
          <a:xfrm>
            <a:off x="586313" y="3640409"/>
            <a:ext cx="180685" cy="180685"/>
          </a:xfrm>
          <a:prstGeom prst="rect">
            <a:avLst/>
          </a:prstGeom>
          <a:ln/>
        </p:spPr>
      </p:pic>
      <p:sp>
        <p:nvSpPr>
          <p:cNvPr id="18" name="Text 12"/>
          <p:cNvSpPr/>
          <p:nvPr/>
        </p:nvSpPr>
        <p:spPr>
          <a:xfrm>
            <a:off x="960120" y="3538728"/>
            <a:ext cx="3703320" cy="384048"/>
          </a:xfrm>
          <a:prstGeom prst="rect">
            <a:avLst/>
          </a:prstGeom>
          <a:noFill/>
          <a:ln/>
        </p:spPr>
        <p:txBody>
          <a:bodyPr wrap="square" rtlCol="0" anchor="ctr"/>
          <a:lstStyle/>
          <a:p>
            <a:pPr marL="0" indent="0">
              <a:lnSpc>
                <a:spcPct val="105000"/>
              </a:lnSpc>
              <a:buNone/>
            </a:pPr>
            <a:r>
              <a:rPr lang="en-US" sz="1100" dirty="0">
                <a:solidFill>
                  <a:srgbClr val="334155"/>
                </a:solidFill>
                <a:latin typeface="Calibri" pitchFamily="34" charset="0"/>
                <a:ea typeface="Calibri" pitchFamily="34" charset="-122"/>
                <a:cs typeface="Calibri" pitchFamily="34" charset="-120"/>
              </a:rPr>
              <a:t>Embedding (OpenAI / HF MiniLM)</a:t>
            </a:r>
            <a:endParaRPr lang="en-US" sz="1100" dirty="0"/>
          </a:p>
        </p:txBody>
      </p:sp>
      <p:sp>
        <p:nvSpPr>
          <p:cNvPr id="19" name="Shape 13"/>
          <p:cNvSpPr/>
          <p:nvPr/>
        </p:nvSpPr>
        <p:spPr>
          <a:xfrm>
            <a:off x="676656" y="3904488"/>
            <a:ext cx="914" cy="219456"/>
          </a:xfrm>
          <a:prstGeom prst="line">
            <a:avLst/>
          </a:prstGeom>
          <a:noFill/>
          <a:ln w="12700">
            <a:solidFill>
              <a:srgbClr val="94A3B8"/>
            </a:solidFill>
            <a:prstDash val="solid"/>
          </a:ln>
        </p:spPr>
        <p:txBody>
          <a:bodyPr/>
          <a:lstStyle/>
          <a:p>
            <a:endParaRPr lang="en-US"/>
          </a:p>
        </p:txBody>
      </p:sp>
      <p:sp>
        <p:nvSpPr>
          <p:cNvPr id="20" name="Shape 14"/>
          <p:cNvSpPr/>
          <p:nvPr/>
        </p:nvSpPr>
        <p:spPr>
          <a:xfrm>
            <a:off x="502920" y="4123944"/>
            <a:ext cx="347472" cy="347472"/>
          </a:xfrm>
          <a:prstGeom prst="ellipse">
            <a:avLst/>
          </a:prstGeom>
          <a:solidFill>
            <a:srgbClr val="6366F1"/>
          </a:solidFill>
          <a:ln/>
        </p:spPr>
        <p:txBody>
          <a:bodyPr/>
          <a:lstStyle/>
          <a:p>
            <a:endParaRPr lang="en-US"/>
          </a:p>
        </p:txBody>
      </p:sp>
      <p:pic>
        <p:nvPicPr>
          <p:cNvPr id="21" name="Image 4" descr="/home/claude/pptx_build/icons/search_white.png"/>
          <p:cNvPicPr>
            <a:picLocks noChangeAspect="1"/>
          </p:cNvPicPr>
          <p:nvPr/>
        </p:nvPicPr>
        <p:blipFill>
          <a:blip r:embed="rId7"/>
          <a:stretch>
            <a:fillRect/>
          </a:stretch>
        </p:blipFill>
        <p:spPr>
          <a:xfrm>
            <a:off x="586313" y="4207337"/>
            <a:ext cx="180685" cy="180685"/>
          </a:xfrm>
          <a:prstGeom prst="rect">
            <a:avLst/>
          </a:prstGeom>
          <a:ln/>
        </p:spPr>
      </p:pic>
      <p:sp>
        <p:nvSpPr>
          <p:cNvPr id="22" name="Text 15"/>
          <p:cNvSpPr/>
          <p:nvPr/>
        </p:nvSpPr>
        <p:spPr>
          <a:xfrm>
            <a:off x="960120" y="4105656"/>
            <a:ext cx="3703320" cy="384048"/>
          </a:xfrm>
          <a:prstGeom prst="rect">
            <a:avLst/>
          </a:prstGeom>
          <a:noFill/>
          <a:ln/>
        </p:spPr>
        <p:txBody>
          <a:bodyPr wrap="square" rtlCol="0" anchor="ctr"/>
          <a:lstStyle/>
          <a:p>
            <a:pPr marL="0" indent="0">
              <a:lnSpc>
                <a:spcPct val="105000"/>
              </a:lnSpc>
              <a:buNone/>
            </a:pPr>
            <a:r>
              <a:rPr lang="en-US" sz="1100" dirty="0">
                <a:solidFill>
                  <a:srgbClr val="334155"/>
                </a:solidFill>
                <a:latin typeface="Calibri" pitchFamily="34" charset="0"/>
                <a:ea typeface="Calibri" pitchFamily="34" charset="-122"/>
                <a:cs typeface="Calibri" pitchFamily="34" charset="-120"/>
              </a:rPr>
              <a:t>Hybrid Search: Dense + BM25 + RRF</a:t>
            </a:r>
            <a:endParaRPr lang="en-US" sz="1100" dirty="0"/>
          </a:p>
        </p:txBody>
      </p:sp>
      <p:sp>
        <p:nvSpPr>
          <p:cNvPr id="23" name="Shape 16"/>
          <p:cNvSpPr/>
          <p:nvPr/>
        </p:nvSpPr>
        <p:spPr>
          <a:xfrm>
            <a:off x="676656" y="4471416"/>
            <a:ext cx="914" cy="219456"/>
          </a:xfrm>
          <a:prstGeom prst="line">
            <a:avLst/>
          </a:prstGeom>
          <a:noFill/>
          <a:ln w="12700">
            <a:solidFill>
              <a:srgbClr val="94A3B8"/>
            </a:solidFill>
            <a:prstDash val="solid"/>
          </a:ln>
        </p:spPr>
        <p:txBody>
          <a:bodyPr/>
          <a:lstStyle/>
          <a:p>
            <a:endParaRPr lang="en-US"/>
          </a:p>
        </p:txBody>
      </p:sp>
      <p:sp>
        <p:nvSpPr>
          <p:cNvPr id="24" name="Shape 17"/>
          <p:cNvSpPr/>
          <p:nvPr/>
        </p:nvSpPr>
        <p:spPr>
          <a:xfrm>
            <a:off x="502920" y="4690872"/>
            <a:ext cx="347472" cy="347472"/>
          </a:xfrm>
          <a:prstGeom prst="ellipse">
            <a:avLst/>
          </a:prstGeom>
          <a:solidFill>
            <a:srgbClr val="6366F1"/>
          </a:solidFill>
          <a:ln/>
        </p:spPr>
        <p:txBody>
          <a:bodyPr/>
          <a:lstStyle/>
          <a:p>
            <a:endParaRPr lang="en-US"/>
          </a:p>
        </p:txBody>
      </p:sp>
      <p:pic>
        <p:nvPicPr>
          <p:cNvPr id="25" name="Image 5" descr="/home/claude/pptx_build/icons/filter_white.png"/>
          <p:cNvPicPr>
            <a:picLocks noChangeAspect="1"/>
          </p:cNvPicPr>
          <p:nvPr/>
        </p:nvPicPr>
        <p:blipFill>
          <a:blip r:embed="rId8"/>
          <a:stretch>
            <a:fillRect/>
          </a:stretch>
        </p:blipFill>
        <p:spPr>
          <a:xfrm>
            <a:off x="586313" y="4774265"/>
            <a:ext cx="180685" cy="180685"/>
          </a:xfrm>
          <a:prstGeom prst="rect">
            <a:avLst/>
          </a:prstGeom>
          <a:ln/>
        </p:spPr>
      </p:pic>
      <p:sp>
        <p:nvSpPr>
          <p:cNvPr id="26" name="Text 18"/>
          <p:cNvSpPr/>
          <p:nvPr/>
        </p:nvSpPr>
        <p:spPr>
          <a:xfrm>
            <a:off x="960120" y="4672584"/>
            <a:ext cx="3703320" cy="384048"/>
          </a:xfrm>
          <a:prstGeom prst="rect">
            <a:avLst/>
          </a:prstGeom>
          <a:noFill/>
          <a:ln/>
        </p:spPr>
        <p:txBody>
          <a:bodyPr wrap="square" rtlCol="0" anchor="ctr"/>
          <a:lstStyle/>
          <a:p>
            <a:pPr marL="0" indent="0">
              <a:lnSpc>
                <a:spcPct val="105000"/>
              </a:lnSpc>
              <a:buNone/>
            </a:pPr>
            <a:r>
              <a:rPr lang="en-US" sz="1100" dirty="0">
                <a:solidFill>
                  <a:srgbClr val="334155"/>
                </a:solidFill>
                <a:latin typeface="Calibri" pitchFamily="34" charset="0"/>
                <a:ea typeface="Calibri" pitchFamily="34" charset="-122"/>
                <a:cs typeface="Calibri" pitchFamily="34" charset="-120"/>
              </a:rPr>
              <a:t>Rerank (fine-tuned Cross-Encoder)</a:t>
            </a:r>
            <a:endParaRPr lang="en-US" sz="1100" dirty="0"/>
          </a:p>
        </p:txBody>
      </p:sp>
      <p:sp>
        <p:nvSpPr>
          <p:cNvPr id="27" name="Shape 19"/>
          <p:cNvSpPr/>
          <p:nvPr/>
        </p:nvSpPr>
        <p:spPr>
          <a:xfrm>
            <a:off x="676656" y="5038344"/>
            <a:ext cx="914" cy="219456"/>
          </a:xfrm>
          <a:prstGeom prst="line">
            <a:avLst/>
          </a:prstGeom>
          <a:noFill/>
          <a:ln w="12700">
            <a:solidFill>
              <a:srgbClr val="94A3B8"/>
            </a:solidFill>
            <a:prstDash val="solid"/>
          </a:ln>
        </p:spPr>
        <p:txBody>
          <a:bodyPr/>
          <a:lstStyle/>
          <a:p>
            <a:endParaRPr lang="en-US"/>
          </a:p>
        </p:txBody>
      </p:sp>
      <p:sp>
        <p:nvSpPr>
          <p:cNvPr id="28" name="Shape 20"/>
          <p:cNvSpPr/>
          <p:nvPr/>
        </p:nvSpPr>
        <p:spPr>
          <a:xfrm>
            <a:off x="502920" y="5257800"/>
            <a:ext cx="347472" cy="347472"/>
          </a:xfrm>
          <a:prstGeom prst="ellipse">
            <a:avLst/>
          </a:prstGeom>
          <a:solidFill>
            <a:srgbClr val="6366F1"/>
          </a:solidFill>
          <a:ln/>
        </p:spPr>
        <p:txBody>
          <a:bodyPr/>
          <a:lstStyle/>
          <a:p>
            <a:endParaRPr lang="en-US"/>
          </a:p>
        </p:txBody>
      </p:sp>
      <p:pic>
        <p:nvPicPr>
          <p:cNvPr id="29" name="Image 6" descr="/home/claude/pptx_build/icons/messageSquare_white.png"/>
          <p:cNvPicPr>
            <a:picLocks noChangeAspect="1"/>
          </p:cNvPicPr>
          <p:nvPr/>
        </p:nvPicPr>
        <p:blipFill>
          <a:blip r:embed="rId9"/>
          <a:stretch>
            <a:fillRect/>
          </a:stretch>
        </p:blipFill>
        <p:spPr>
          <a:xfrm>
            <a:off x="586313" y="5341193"/>
            <a:ext cx="180685" cy="180685"/>
          </a:xfrm>
          <a:prstGeom prst="rect">
            <a:avLst/>
          </a:prstGeom>
          <a:ln/>
        </p:spPr>
      </p:pic>
      <p:sp>
        <p:nvSpPr>
          <p:cNvPr id="30" name="Text 21"/>
          <p:cNvSpPr/>
          <p:nvPr/>
        </p:nvSpPr>
        <p:spPr>
          <a:xfrm>
            <a:off x="960120" y="5239512"/>
            <a:ext cx="3703320" cy="384048"/>
          </a:xfrm>
          <a:prstGeom prst="rect">
            <a:avLst/>
          </a:prstGeom>
          <a:noFill/>
          <a:ln/>
        </p:spPr>
        <p:txBody>
          <a:bodyPr wrap="square" rtlCol="0" anchor="ctr"/>
          <a:lstStyle/>
          <a:p>
            <a:pPr marL="0" indent="0">
              <a:lnSpc>
                <a:spcPct val="105000"/>
              </a:lnSpc>
              <a:buNone/>
            </a:pPr>
            <a:r>
              <a:rPr lang="en-US" sz="1100" dirty="0">
                <a:solidFill>
                  <a:srgbClr val="334155"/>
                </a:solidFill>
                <a:latin typeface="Calibri" pitchFamily="34" charset="0"/>
                <a:ea typeface="Calibri" pitchFamily="34" charset="-122"/>
                <a:cs typeface="Calibri" pitchFamily="34" charset="-120"/>
              </a:rPr>
              <a:t>LLM sinh câu trả lời + Citation</a:t>
            </a:r>
            <a:endParaRPr lang="en-US" sz="1100" dirty="0"/>
          </a:p>
        </p:txBody>
      </p:sp>
      <p:sp>
        <p:nvSpPr>
          <p:cNvPr id="31" name="Text 22"/>
          <p:cNvSpPr/>
          <p:nvPr/>
        </p:nvSpPr>
        <p:spPr>
          <a:xfrm>
            <a:off x="4937760" y="2039112"/>
            <a:ext cx="3703320" cy="320040"/>
          </a:xfrm>
          <a:prstGeom prst="rect">
            <a:avLst/>
          </a:prstGeom>
          <a:noFill/>
          <a:ln/>
        </p:spPr>
        <p:txBody>
          <a:bodyPr wrap="square" rtlCol="0" anchor="ctr"/>
          <a:lstStyle/>
          <a:p>
            <a:pPr marL="0" indent="0">
              <a:buNone/>
            </a:pPr>
            <a:r>
              <a:rPr lang="en-US" sz="1350" b="1" dirty="0">
                <a:solidFill>
                  <a:srgbClr val="0F172A"/>
                </a:solidFill>
                <a:latin typeface="Arial" pitchFamily="34" charset="0"/>
                <a:ea typeface="Arial" pitchFamily="34" charset="-122"/>
                <a:cs typeface="Arial" pitchFamily="34" charset="-120"/>
              </a:rPr>
              <a:t>Agent Design &amp; Prompt Strategy</a:t>
            </a:r>
            <a:endParaRPr lang="en-US" sz="1350" dirty="0"/>
          </a:p>
        </p:txBody>
      </p:sp>
      <p:sp>
        <p:nvSpPr>
          <p:cNvPr id="32" name="Text 23"/>
          <p:cNvSpPr/>
          <p:nvPr/>
        </p:nvSpPr>
        <p:spPr>
          <a:xfrm>
            <a:off x="4937760" y="2423160"/>
            <a:ext cx="3703320" cy="3383280"/>
          </a:xfrm>
          <a:prstGeom prst="rect">
            <a:avLst/>
          </a:prstGeom>
          <a:noFill/>
          <a:ln/>
        </p:spPr>
        <p:txBody>
          <a:bodyPr wrap="square" rtlCol="0" anchor="t"/>
          <a:lstStyle/>
          <a:p>
            <a:pPr marL="177800" indent="-177800">
              <a:spcAft>
                <a:spcPts val="900"/>
              </a:spcAft>
              <a:buSzPct val="100000"/>
              <a:buChar char="•"/>
            </a:pPr>
            <a:r>
              <a:rPr lang="en-US" sz="1150" dirty="0">
                <a:solidFill>
                  <a:srgbClr val="334155"/>
                </a:solidFill>
                <a:latin typeface="Calibri" pitchFamily="34" charset="0"/>
                <a:ea typeface="Calibri" pitchFamily="34" charset="-122"/>
                <a:cs typeface="Calibri" pitchFamily="34" charset="-120"/>
              </a:rPr>
              <a:t>LangGraph StateGraph: 5 agent chuyên biệt nối tiếp, có checkpoint để resume.</a:t>
            </a:r>
            <a:endParaRPr lang="en-US" sz="1150" dirty="0"/>
          </a:p>
          <a:p>
            <a:pPr marL="177800" indent="-177800">
              <a:spcAft>
                <a:spcPts val="900"/>
              </a:spcAft>
              <a:buSzPct val="100000"/>
              <a:buChar char="•"/>
            </a:pPr>
            <a:r>
              <a:rPr lang="en-US" sz="1150" dirty="0">
                <a:solidFill>
                  <a:srgbClr val="334155"/>
                </a:solidFill>
                <a:latin typeface="Calibri" pitchFamily="34" charset="0"/>
                <a:ea typeface="Calibri" pitchFamily="34" charset="-122"/>
                <a:cs typeface="Calibri" pitchFamily="34" charset="-120"/>
              </a:rPr>
              <a:t>Pydantic schema chặn LLM tự chèn ký hiệu trích dẫn [1][2] — trích dẫn chỉ do code gắn.</a:t>
            </a:r>
            <a:endParaRPr lang="en-US" sz="1150" dirty="0"/>
          </a:p>
          <a:p>
            <a:pPr marL="177800" indent="-177800">
              <a:spcAft>
                <a:spcPts val="900"/>
              </a:spcAft>
              <a:buSzPct val="100000"/>
              <a:buChar char="•"/>
            </a:pPr>
            <a:r>
              <a:rPr lang="en-US" sz="1150" dirty="0">
                <a:solidFill>
                  <a:srgbClr val="334155"/>
                </a:solidFill>
                <a:latin typeface="Calibri" pitchFamily="34" charset="0"/>
                <a:ea typeface="Calibri" pitchFamily="34" charset="-122"/>
                <a:cs typeface="Calibri" pitchFamily="34" charset="-120"/>
              </a:rPr>
              <a:t>Temperature 0.0–0.2 ở bước grounding để giảm sai lệch bằng chứng.</a:t>
            </a:r>
            <a:endParaRPr lang="en-US" sz="1150" dirty="0"/>
          </a:p>
          <a:p>
            <a:pPr marL="177800" indent="-177800">
              <a:spcAft>
                <a:spcPts val="900"/>
              </a:spcAft>
              <a:buSzPct val="100000"/>
              <a:buChar char="•"/>
            </a:pPr>
            <a:r>
              <a:rPr lang="en-US" sz="1150" dirty="0">
                <a:solidFill>
                  <a:srgbClr val="334155"/>
                </a:solidFill>
                <a:latin typeface="Calibri" pitchFamily="34" charset="0"/>
                <a:ea typeface="Calibri" pitchFamily="34" charset="-122"/>
                <a:cs typeface="Calibri" pitchFamily="34" charset="-120"/>
              </a:rPr>
              <a:t>Evidence-Driven Outline: không tạo outline trước khi có bằng chứng thật.</a:t>
            </a:r>
            <a:endParaRPr lang="en-US" sz="1150" dirty="0"/>
          </a:p>
          <a:p>
            <a:pPr marL="177800" indent="-177800">
              <a:spcAft>
                <a:spcPts val="900"/>
              </a:spcAft>
              <a:buSzPct val="100000"/>
              <a:buChar char="•"/>
            </a:pPr>
            <a:r>
              <a:rPr lang="en-US" sz="1150" dirty="0">
                <a:solidFill>
                  <a:srgbClr val="334155"/>
                </a:solidFill>
                <a:latin typeface="Calibri" pitchFamily="34" charset="0"/>
                <a:ea typeface="Calibri" pitchFamily="34" charset="-122"/>
                <a:cs typeface="Calibri" pitchFamily="34" charset="-120"/>
              </a:rPr>
              <a:t>Coverage Expansion Loop: đo tỉ lệ phủ, tự sinh truy vấn con cho bài báo bị thiếu bằng chứng.</a:t>
            </a:r>
            <a:endParaRPr lang="en-US" sz="1150" dirty="0"/>
          </a:p>
        </p:txBody>
      </p:sp>
      <p:sp>
        <p:nvSpPr>
          <p:cNvPr id="33" name="Text 24"/>
          <p:cNvSpPr/>
          <p:nvPr/>
        </p:nvSpPr>
        <p:spPr>
          <a:xfrm>
            <a:off x="8915400" y="2039112"/>
            <a:ext cx="2773375" cy="320040"/>
          </a:xfrm>
          <a:prstGeom prst="rect">
            <a:avLst/>
          </a:prstGeom>
          <a:noFill/>
          <a:ln/>
        </p:spPr>
        <p:txBody>
          <a:bodyPr wrap="square" rtlCol="0" anchor="ctr"/>
          <a:lstStyle/>
          <a:p>
            <a:pPr marL="0" indent="0">
              <a:buNone/>
            </a:pPr>
            <a:r>
              <a:rPr lang="en-US" sz="1350" b="1" dirty="0">
                <a:solidFill>
                  <a:srgbClr val="0F172A"/>
                </a:solidFill>
                <a:latin typeface="Arial" pitchFamily="34" charset="0"/>
                <a:ea typeface="Arial" pitchFamily="34" charset="-122"/>
                <a:cs typeface="Arial" pitchFamily="34" charset="-120"/>
              </a:rPr>
              <a:t>Evaluation Metrics (RAGAS)</a:t>
            </a:r>
            <a:endParaRPr lang="en-US" sz="1350" dirty="0"/>
          </a:p>
        </p:txBody>
      </p:sp>
      <p:sp>
        <p:nvSpPr>
          <p:cNvPr id="34" name="Shape 25"/>
          <p:cNvSpPr/>
          <p:nvPr/>
        </p:nvSpPr>
        <p:spPr>
          <a:xfrm>
            <a:off x="8915400" y="2423160"/>
            <a:ext cx="2773375" cy="932688"/>
          </a:xfrm>
          <a:prstGeom prst="roundRect">
            <a:avLst>
              <a:gd name="adj" fmla="val 9804"/>
            </a:avLst>
          </a:prstGeom>
          <a:solidFill>
            <a:srgbClr val="F1F5F9"/>
          </a:solidFill>
          <a:ln/>
          <a:effectLst>
            <a:outerShdw blurRad="127000" dist="38100" dir="5400000" algn="bl" rotWithShape="0">
              <a:srgbClr val="000000">
                <a:alpha val="28000"/>
              </a:srgbClr>
            </a:outerShdw>
          </a:effectLst>
        </p:spPr>
        <p:txBody>
          <a:bodyPr/>
          <a:lstStyle/>
          <a:p>
            <a:endParaRPr lang="en-US"/>
          </a:p>
        </p:txBody>
      </p:sp>
      <p:sp>
        <p:nvSpPr>
          <p:cNvPr id="35" name="Text 26"/>
          <p:cNvSpPr/>
          <p:nvPr/>
        </p:nvSpPr>
        <p:spPr>
          <a:xfrm>
            <a:off x="9079992" y="2496312"/>
            <a:ext cx="2444191" cy="457200"/>
          </a:xfrm>
          <a:prstGeom prst="rect">
            <a:avLst/>
          </a:prstGeom>
          <a:noFill/>
          <a:ln/>
        </p:spPr>
        <p:txBody>
          <a:bodyPr wrap="square" rtlCol="0" anchor="ctr"/>
          <a:lstStyle/>
          <a:p>
            <a:pPr marL="0" indent="0">
              <a:buNone/>
            </a:pPr>
            <a:r>
              <a:rPr lang="en-US" sz="2400" b="1" dirty="0">
                <a:solidFill>
                  <a:srgbClr val="10B981"/>
                </a:solidFill>
                <a:latin typeface="Arial" pitchFamily="34" charset="0"/>
                <a:ea typeface="Arial" pitchFamily="34" charset="-122"/>
                <a:cs typeface="Arial" pitchFamily="34" charset="-120"/>
              </a:rPr>
              <a:t>0.88</a:t>
            </a:r>
            <a:endParaRPr lang="en-US" sz="2400" dirty="0"/>
          </a:p>
        </p:txBody>
      </p:sp>
      <p:sp>
        <p:nvSpPr>
          <p:cNvPr id="36" name="Text 27"/>
          <p:cNvSpPr/>
          <p:nvPr/>
        </p:nvSpPr>
        <p:spPr>
          <a:xfrm>
            <a:off x="9079992" y="2935224"/>
            <a:ext cx="2444191" cy="219456"/>
          </a:xfrm>
          <a:prstGeom prst="rect">
            <a:avLst/>
          </a:prstGeom>
          <a:noFill/>
          <a:ln/>
        </p:spPr>
        <p:txBody>
          <a:bodyPr wrap="square"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Faithfulness</a:t>
            </a:r>
            <a:endParaRPr lang="en-US" sz="1050" dirty="0"/>
          </a:p>
        </p:txBody>
      </p:sp>
      <p:sp>
        <p:nvSpPr>
          <p:cNvPr id="37" name="Text 28"/>
          <p:cNvSpPr/>
          <p:nvPr/>
        </p:nvSpPr>
        <p:spPr>
          <a:xfrm>
            <a:off x="9079992" y="3136392"/>
            <a:ext cx="2444191"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Mục tiêu: ≥ 0.80</a:t>
            </a:r>
            <a:endParaRPr lang="en-US" sz="900" dirty="0"/>
          </a:p>
        </p:txBody>
      </p:sp>
      <p:sp>
        <p:nvSpPr>
          <p:cNvPr id="38" name="Shape 29"/>
          <p:cNvSpPr/>
          <p:nvPr/>
        </p:nvSpPr>
        <p:spPr>
          <a:xfrm>
            <a:off x="8915400" y="3502152"/>
            <a:ext cx="2773375" cy="932688"/>
          </a:xfrm>
          <a:prstGeom prst="roundRect">
            <a:avLst>
              <a:gd name="adj" fmla="val 9804"/>
            </a:avLst>
          </a:prstGeom>
          <a:solidFill>
            <a:srgbClr val="F1F5F9"/>
          </a:solidFill>
          <a:ln/>
          <a:effectLst>
            <a:outerShdw blurRad="127000" dist="38100" dir="5400000" algn="bl" rotWithShape="0">
              <a:srgbClr val="000000">
                <a:alpha val="28000"/>
              </a:srgbClr>
            </a:outerShdw>
          </a:effectLst>
        </p:spPr>
        <p:txBody>
          <a:bodyPr/>
          <a:lstStyle/>
          <a:p>
            <a:endParaRPr lang="en-US"/>
          </a:p>
        </p:txBody>
      </p:sp>
      <p:sp>
        <p:nvSpPr>
          <p:cNvPr id="39" name="Text 30"/>
          <p:cNvSpPr/>
          <p:nvPr/>
        </p:nvSpPr>
        <p:spPr>
          <a:xfrm>
            <a:off x="9079992" y="3575304"/>
            <a:ext cx="2444191" cy="457200"/>
          </a:xfrm>
          <a:prstGeom prst="rect">
            <a:avLst/>
          </a:prstGeom>
          <a:noFill/>
          <a:ln/>
        </p:spPr>
        <p:txBody>
          <a:bodyPr wrap="square" rtlCol="0" anchor="ctr"/>
          <a:lstStyle/>
          <a:p>
            <a:pPr marL="0" indent="0">
              <a:buNone/>
            </a:pPr>
            <a:r>
              <a:rPr lang="en-US" sz="2400" b="1" dirty="0">
                <a:solidFill>
                  <a:srgbClr val="10B981"/>
                </a:solidFill>
                <a:latin typeface="Arial" pitchFamily="34" charset="0"/>
                <a:ea typeface="Arial" pitchFamily="34" charset="-122"/>
                <a:cs typeface="Arial" pitchFamily="34" charset="-120"/>
              </a:rPr>
              <a:t>0.90</a:t>
            </a:r>
            <a:endParaRPr lang="en-US" sz="2400" dirty="0"/>
          </a:p>
        </p:txBody>
      </p:sp>
      <p:sp>
        <p:nvSpPr>
          <p:cNvPr id="40" name="Text 31"/>
          <p:cNvSpPr/>
          <p:nvPr/>
        </p:nvSpPr>
        <p:spPr>
          <a:xfrm>
            <a:off x="9079992" y="4014216"/>
            <a:ext cx="2444191" cy="219456"/>
          </a:xfrm>
          <a:prstGeom prst="rect">
            <a:avLst/>
          </a:prstGeom>
          <a:noFill/>
          <a:ln/>
        </p:spPr>
        <p:txBody>
          <a:bodyPr wrap="square"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Answer Relevancy</a:t>
            </a:r>
            <a:endParaRPr lang="en-US" sz="1050" dirty="0"/>
          </a:p>
        </p:txBody>
      </p:sp>
      <p:sp>
        <p:nvSpPr>
          <p:cNvPr id="41" name="Text 32"/>
          <p:cNvSpPr/>
          <p:nvPr/>
        </p:nvSpPr>
        <p:spPr>
          <a:xfrm>
            <a:off x="9079992" y="4215384"/>
            <a:ext cx="2444191"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Mục tiêu: ≥ 0.80</a:t>
            </a:r>
            <a:endParaRPr lang="en-US" sz="900" dirty="0"/>
          </a:p>
        </p:txBody>
      </p:sp>
      <p:sp>
        <p:nvSpPr>
          <p:cNvPr id="42" name="Shape 33"/>
          <p:cNvSpPr/>
          <p:nvPr/>
        </p:nvSpPr>
        <p:spPr>
          <a:xfrm>
            <a:off x="8915400" y="4581144"/>
            <a:ext cx="2773375" cy="932688"/>
          </a:xfrm>
          <a:prstGeom prst="roundRect">
            <a:avLst>
              <a:gd name="adj" fmla="val 9804"/>
            </a:avLst>
          </a:prstGeom>
          <a:solidFill>
            <a:srgbClr val="F1F5F9"/>
          </a:solidFill>
          <a:ln/>
          <a:effectLst>
            <a:outerShdw blurRad="127000" dist="38100" dir="5400000" algn="bl" rotWithShape="0">
              <a:srgbClr val="000000">
                <a:alpha val="28000"/>
              </a:srgbClr>
            </a:outerShdw>
          </a:effectLst>
        </p:spPr>
        <p:txBody>
          <a:bodyPr/>
          <a:lstStyle/>
          <a:p>
            <a:endParaRPr lang="en-US"/>
          </a:p>
        </p:txBody>
      </p:sp>
      <p:sp>
        <p:nvSpPr>
          <p:cNvPr id="43" name="Text 34"/>
          <p:cNvSpPr/>
          <p:nvPr/>
        </p:nvSpPr>
        <p:spPr>
          <a:xfrm>
            <a:off x="9079992" y="4654296"/>
            <a:ext cx="2444191" cy="457200"/>
          </a:xfrm>
          <a:prstGeom prst="rect">
            <a:avLst/>
          </a:prstGeom>
          <a:noFill/>
          <a:ln/>
        </p:spPr>
        <p:txBody>
          <a:bodyPr wrap="square" rtlCol="0" anchor="ctr"/>
          <a:lstStyle/>
          <a:p>
            <a:pPr marL="0" indent="0">
              <a:buNone/>
            </a:pPr>
            <a:r>
              <a:rPr lang="en-US" sz="2400" b="1" dirty="0">
                <a:solidFill>
                  <a:srgbClr val="8B5CF6"/>
                </a:solidFill>
                <a:latin typeface="Arial" pitchFamily="34" charset="0"/>
                <a:ea typeface="Arial" pitchFamily="34" charset="-122"/>
                <a:cs typeface="Arial" pitchFamily="34" charset="-120"/>
              </a:rPr>
              <a:t>99.2%</a:t>
            </a:r>
            <a:endParaRPr lang="en-US" sz="2400" dirty="0"/>
          </a:p>
        </p:txBody>
      </p:sp>
      <p:sp>
        <p:nvSpPr>
          <p:cNvPr id="44" name="Text 35"/>
          <p:cNvSpPr/>
          <p:nvPr/>
        </p:nvSpPr>
        <p:spPr>
          <a:xfrm>
            <a:off x="9079992" y="5093208"/>
            <a:ext cx="2444191" cy="219456"/>
          </a:xfrm>
          <a:prstGeom prst="rect">
            <a:avLst/>
          </a:prstGeom>
          <a:noFill/>
          <a:ln/>
        </p:spPr>
        <p:txBody>
          <a:bodyPr wrap="square"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Fine-tune JSON/Schema</a:t>
            </a:r>
            <a:endParaRPr lang="en-US" sz="1050" dirty="0"/>
          </a:p>
        </p:txBody>
      </p:sp>
      <p:sp>
        <p:nvSpPr>
          <p:cNvPr id="45" name="Text 36"/>
          <p:cNvSpPr/>
          <p:nvPr/>
        </p:nvSpPr>
        <p:spPr>
          <a:xfrm>
            <a:off x="9079992" y="5294376"/>
            <a:ext cx="2444191"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Mục tiêu: 3 agent LoRA</a:t>
            </a:r>
            <a:endParaRPr lang="en-US" sz="900" dirty="0"/>
          </a:p>
        </p:txBody>
      </p:sp>
      <p:sp>
        <p:nvSpPr>
          <p:cNvPr id="46" name="Text 37"/>
          <p:cNvSpPr/>
          <p:nvPr/>
        </p:nvSpPr>
        <p:spPr>
          <a:xfrm>
            <a:off x="502920" y="6473952"/>
            <a:ext cx="45720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P-165 · AI20K Build Phase, Cohort 3</a:t>
            </a:r>
            <a:endParaRPr lang="en-US" sz="900" dirty="0"/>
          </a:p>
        </p:txBody>
      </p:sp>
      <p:sp>
        <p:nvSpPr>
          <p:cNvPr id="47" name="Text 38"/>
          <p:cNvSpPr/>
          <p:nvPr/>
        </p:nvSpPr>
        <p:spPr>
          <a:xfrm>
            <a:off x="10591495" y="6473952"/>
            <a:ext cx="109728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06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47472"/>
            <a:ext cx="310896" cy="310896"/>
          </a:xfrm>
          <a:prstGeom prst="ellipse">
            <a:avLst/>
          </a:prstGeom>
          <a:solidFill>
            <a:srgbClr val="10B981"/>
          </a:solidFill>
          <a:ln/>
        </p:spPr>
        <p:txBody>
          <a:bodyPr/>
          <a:lstStyle/>
          <a:p>
            <a:endParaRPr lang="en-US"/>
          </a:p>
        </p:txBody>
      </p:sp>
      <p:pic>
        <p:nvPicPr>
          <p:cNvPr id="3" name="Image 0" descr="/home/claude/pptx_build/icons/bookOpen_white.png"/>
          <p:cNvPicPr>
            <a:picLocks noChangeAspect="1"/>
          </p:cNvPicPr>
          <p:nvPr/>
        </p:nvPicPr>
        <p:blipFill>
          <a:blip r:embed="rId3"/>
          <a:stretch>
            <a:fillRect/>
          </a:stretch>
        </p:blipFill>
        <p:spPr>
          <a:xfrm>
            <a:off x="566928" y="411480"/>
            <a:ext cx="182880" cy="182880"/>
          </a:xfrm>
          <a:prstGeom prst="rect">
            <a:avLst/>
          </a:prstGeom>
          <a:ln/>
        </p:spPr>
      </p:pic>
      <p:sp>
        <p:nvSpPr>
          <p:cNvPr id="4" name="Text 1"/>
          <p:cNvSpPr/>
          <p:nvPr/>
        </p:nvSpPr>
        <p:spPr>
          <a:xfrm>
            <a:off x="923544" y="320040"/>
            <a:ext cx="2926080" cy="365760"/>
          </a:xfrm>
          <a:prstGeom prst="rect">
            <a:avLst/>
          </a:prstGeom>
          <a:noFill/>
          <a:ln/>
        </p:spPr>
        <p:txBody>
          <a:bodyPr wrap="square" rtlCol="0" anchor="ctr"/>
          <a:lstStyle/>
          <a:p>
            <a:pPr marL="0" indent="0" algn="l">
              <a:buNone/>
            </a:pPr>
            <a:r>
              <a:rPr lang="en-US" sz="1250" b="1" kern="0" spc="50" dirty="0">
                <a:solidFill>
                  <a:srgbClr val="0F172A"/>
                </a:solidFill>
                <a:latin typeface="Arial" pitchFamily="34" charset="0"/>
                <a:ea typeface="Arial" pitchFamily="34" charset="-122"/>
                <a:cs typeface="Arial" pitchFamily="34" charset="-120"/>
              </a:rPr>
              <a:t>LitReview Agent</a:t>
            </a:r>
            <a:endParaRPr lang="en-US" sz="1250" dirty="0"/>
          </a:p>
        </p:txBody>
      </p:sp>
      <p:sp>
        <p:nvSpPr>
          <p:cNvPr id="5" name="Text 2"/>
          <p:cNvSpPr/>
          <p:nvPr/>
        </p:nvSpPr>
        <p:spPr>
          <a:xfrm>
            <a:off x="502920" y="841248"/>
            <a:ext cx="11185855" cy="292608"/>
          </a:xfrm>
          <a:prstGeom prst="rect">
            <a:avLst/>
          </a:prstGeom>
          <a:noFill/>
          <a:ln/>
        </p:spPr>
        <p:txBody>
          <a:bodyPr wrap="square" rtlCol="0" anchor="ctr"/>
          <a:lstStyle/>
          <a:p>
            <a:pPr marL="0" indent="0" algn="l">
              <a:buNone/>
            </a:pPr>
            <a:r>
              <a:rPr lang="en-US" sz="1250" b="1" kern="0" spc="200" dirty="0">
                <a:solidFill>
                  <a:srgbClr val="10B981"/>
                </a:solidFill>
                <a:latin typeface="Arial" pitchFamily="34" charset="0"/>
                <a:ea typeface="Arial" pitchFamily="34" charset="-122"/>
                <a:cs typeface="Arial" pitchFamily="34" charset="-120"/>
              </a:rPr>
              <a:t>ĐIỂM NỔI BẬT KỸ THUẬT</a:t>
            </a:r>
            <a:endParaRPr lang="en-US" sz="1250" dirty="0"/>
          </a:p>
        </p:txBody>
      </p:sp>
      <p:sp>
        <p:nvSpPr>
          <p:cNvPr id="6" name="Text 3"/>
          <p:cNvSpPr/>
          <p:nvPr/>
        </p:nvSpPr>
        <p:spPr>
          <a:xfrm>
            <a:off x="502920" y="1152144"/>
            <a:ext cx="11185855" cy="777240"/>
          </a:xfrm>
          <a:prstGeom prst="rect">
            <a:avLst/>
          </a:prstGeom>
          <a:noFill/>
          <a:ln/>
        </p:spPr>
        <p:txBody>
          <a:bodyPr wrap="square" rtlCol="0" anchor="t"/>
          <a:lstStyle/>
          <a:p>
            <a:pPr marL="0" indent="0" algn="l">
              <a:lnSpc>
                <a:spcPct val="105000"/>
              </a:lnSpc>
              <a:buNone/>
            </a:pPr>
            <a:r>
              <a:rPr lang="en-US" sz="2700" b="1" dirty="0">
                <a:solidFill>
                  <a:srgbClr val="0F172A"/>
                </a:solidFill>
                <a:latin typeface="Arial" pitchFamily="34" charset="0"/>
                <a:ea typeface="Arial" pitchFamily="34" charset="-122"/>
                <a:cs typeface="Arial" pitchFamily="34" charset="-120"/>
              </a:rPr>
              <a:t>Có đo lường, có kiểm thử, có pipeline triển khai</a:t>
            </a:r>
            <a:endParaRPr lang="en-US" sz="2700" dirty="0"/>
          </a:p>
        </p:txBody>
      </p:sp>
      <p:sp>
        <p:nvSpPr>
          <p:cNvPr id="7" name="Shape 4"/>
          <p:cNvSpPr/>
          <p:nvPr/>
        </p:nvSpPr>
        <p:spPr>
          <a:xfrm>
            <a:off x="502920" y="2084832"/>
            <a:ext cx="5464912" cy="1915668"/>
          </a:xfrm>
          <a:prstGeom prst="roundRect">
            <a:avLst>
              <a:gd name="adj" fmla="val 4773"/>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8" name="Shape 5"/>
          <p:cNvSpPr/>
          <p:nvPr/>
        </p:nvSpPr>
        <p:spPr>
          <a:xfrm>
            <a:off x="740664" y="2304288"/>
            <a:ext cx="457200" cy="457200"/>
          </a:xfrm>
          <a:prstGeom prst="ellipse">
            <a:avLst/>
          </a:prstGeom>
          <a:solidFill>
            <a:srgbClr val="6366F1"/>
          </a:solidFill>
          <a:ln/>
        </p:spPr>
        <p:txBody>
          <a:bodyPr/>
          <a:lstStyle/>
          <a:p>
            <a:endParaRPr lang="en-US"/>
          </a:p>
        </p:txBody>
      </p:sp>
      <p:pic>
        <p:nvPicPr>
          <p:cNvPr id="9" name="Image 1" descr="/home/claude/pptx_build/icons/gitBranch_white.png"/>
          <p:cNvPicPr>
            <a:picLocks noChangeAspect="1"/>
          </p:cNvPicPr>
          <p:nvPr/>
        </p:nvPicPr>
        <p:blipFill>
          <a:blip r:embed="rId4"/>
          <a:stretch>
            <a:fillRect/>
          </a:stretch>
        </p:blipFill>
        <p:spPr>
          <a:xfrm>
            <a:off x="850392" y="2414016"/>
            <a:ext cx="237744" cy="237744"/>
          </a:xfrm>
          <a:prstGeom prst="rect">
            <a:avLst/>
          </a:prstGeom>
          <a:ln/>
        </p:spPr>
      </p:pic>
      <p:sp>
        <p:nvSpPr>
          <p:cNvPr id="10" name="Text 6"/>
          <p:cNvSpPr/>
          <p:nvPr/>
        </p:nvSpPr>
        <p:spPr>
          <a:xfrm>
            <a:off x="1362456" y="2286000"/>
            <a:ext cx="4459072" cy="502920"/>
          </a:xfrm>
          <a:prstGeom prst="rect">
            <a:avLst/>
          </a:prstGeom>
          <a:noFill/>
          <a:ln/>
        </p:spPr>
        <p:txBody>
          <a:bodyPr wrap="square" rtlCol="0" anchor="ctr"/>
          <a:lstStyle/>
          <a:p>
            <a:pPr marL="0" indent="0">
              <a:buNone/>
            </a:pPr>
            <a:r>
              <a:rPr lang="en-US" sz="1550" b="1" dirty="0">
                <a:solidFill>
                  <a:srgbClr val="0F172A"/>
                </a:solidFill>
                <a:latin typeface="Arial" pitchFamily="34" charset="0"/>
                <a:ea typeface="Arial" pitchFamily="34" charset="-122"/>
                <a:cs typeface="Arial" pitchFamily="34" charset="-120"/>
              </a:rPr>
              <a:t>CI/CD Pipeline</a:t>
            </a:r>
            <a:endParaRPr lang="en-US" sz="1550" dirty="0"/>
          </a:p>
        </p:txBody>
      </p:sp>
      <p:sp>
        <p:nvSpPr>
          <p:cNvPr id="11" name="Text 7"/>
          <p:cNvSpPr/>
          <p:nvPr/>
        </p:nvSpPr>
        <p:spPr>
          <a:xfrm>
            <a:off x="740664" y="2926080"/>
            <a:ext cx="4989424" cy="955548"/>
          </a:xfrm>
          <a:prstGeom prst="rect">
            <a:avLst/>
          </a:prstGeom>
          <a:noFill/>
          <a:ln/>
        </p:spPr>
        <p:txBody>
          <a:bodyPr wrap="square" rtlCol="0" anchor="ctr"/>
          <a:lstStyle/>
          <a:p>
            <a:pPr marL="0" indent="0">
              <a:lnSpc>
                <a:spcPct val="128000"/>
              </a:lnSpc>
              <a:buNone/>
            </a:pPr>
            <a:r>
              <a:rPr lang="en-US" sz="1200" dirty="0">
                <a:solidFill>
                  <a:srgbClr val="334155"/>
                </a:solidFill>
                <a:latin typeface="Calibri" pitchFamily="34" charset="0"/>
                <a:ea typeface="Calibri" pitchFamily="34" charset="-122"/>
                <a:cs typeface="Calibri" pitchFamily="34" charset="-120"/>
              </a:rPr>
              <a:t>GitHub Actions: ruff lint + pytest tự động chạy trên mỗi push/PR vào nhánh main &amp; develop.</a:t>
            </a:r>
            <a:endParaRPr lang="en-US" sz="1200" dirty="0"/>
          </a:p>
        </p:txBody>
      </p:sp>
      <p:sp>
        <p:nvSpPr>
          <p:cNvPr id="12" name="Shape 8"/>
          <p:cNvSpPr/>
          <p:nvPr/>
        </p:nvSpPr>
        <p:spPr>
          <a:xfrm>
            <a:off x="6223864" y="2084832"/>
            <a:ext cx="5464912" cy="1915668"/>
          </a:xfrm>
          <a:prstGeom prst="roundRect">
            <a:avLst>
              <a:gd name="adj" fmla="val 4773"/>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13" name="Shape 9"/>
          <p:cNvSpPr/>
          <p:nvPr/>
        </p:nvSpPr>
        <p:spPr>
          <a:xfrm>
            <a:off x="6461608" y="2304288"/>
            <a:ext cx="457200" cy="457200"/>
          </a:xfrm>
          <a:prstGeom prst="ellipse">
            <a:avLst/>
          </a:prstGeom>
          <a:solidFill>
            <a:srgbClr val="10B981"/>
          </a:solidFill>
          <a:ln/>
        </p:spPr>
        <p:txBody>
          <a:bodyPr/>
          <a:lstStyle/>
          <a:p>
            <a:endParaRPr lang="en-US"/>
          </a:p>
        </p:txBody>
      </p:sp>
      <p:pic>
        <p:nvPicPr>
          <p:cNvPr id="14" name="Image 2" descr="/home/claude/pptx_build/icons/checkSquare_white.png"/>
          <p:cNvPicPr>
            <a:picLocks noChangeAspect="1"/>
          </p:cNvPicPr>
          <p:nvPr/>
        </p:nvPicPr>
        <p:blipFill>
          <a:blip r:embed="rId5"/>
          <a:stretch>
            <a:fillRect/>
          </a:stretch>
        </p:blipFill>
        <p:spPr>
          <a:xfrm>
            <a:off x="6571336" y="2414016"/>
            <a:ext cx="237744" cy="237744"/>
          </a:xfrm>
          <a:prstGeom prst="rect">
            <a:avLst/>
          </a:prstGeom>
          <a:ln/>
        </p:spPr>
      </p:pic>
      <p:sp>
        <p:nvSpPr>
          <p:cNvPr id="15" name="Text 10"/>
          <p:cNvSpPr/>
          <p:nvPr/>
        </p:nvSpPr>
        <p:spPr>
          <a:xfrm>
            <a:off x="7083400" y="2286000"/>
            <a:ext cx="4459072" cy="502920"/>
          </a:xfrm>
          <a:prstGeom prst="rect">
            <a:avLst/>
          </a:prstGeom>
          <a:noFill/>
          <a:ln/>
        </p:spPr>
        <p:txBody>
          <a:bodyPr wrap="square" rtlCol="0" anchor="ctr"/>
          <a:lstStyle/>
          <a:p>
            <a:pPr marL="0" indent="0">
              <a:buNone/>
            </a:pPr>
            <a:r>
              <a:rPr lang="en-US" sz="1550" b="1" dirty="0">
                <a:solidFill>
                  <a:srgbClr val="0F172A"/>
                </a:solidFill>
                <a:latin typeface="Arial" pitchFamily="34" charset="0"/>
                <a:ea typeface="Arial" pitchFamily="34" charset="-122"/>
                <a:cs typeface="Arial" pitchFamily="34" charset="-120"/>
              </a:rPr>
              <a:t>Test Coverage</a:t>
            </a:r>
            <a:endParaRPr lang="en-US" sz="1550" dirty="0"/>
          </a:p>
        </p:txBody>
      </p:sp>
      <p:sp>
        <p:nvSpPr>
          <p:cNvPr id="16" name="Text 11"/>
          <p:cNvSpPr/>
          <p:nvPr/>
        </p:nvSpPr>
        <p:spPr>
          <a:xfrm>
            <a:off x="6461608" y="2926080"/>
            <a:ext cx="4989424" cy="955548"/>
          </a:xfrm>
          <a:prstGeom prst="rect">
            <a:avLst/>
          </a:prstGeom>
          <a:noFill/>
          <a:ln/>
        </p:spPr>
        <p:txBody>
          <a:bodyPr wrap="square" rtlCol="0" anchor="ctr"/>
          <a:lstStyle/>
          <a:p>
            <a:pPr marL="0" indent="0">
              <a:lnSpc>
                <a:spcPct val="128000"/>
              </a:lnSpc>
              <a:buNone/>
            </a:pPr>
            <a:r>
              <a:rPr lang="en-US" sz="1200" dirty="0">
                <a:solidFill>
                  <a:srgbClr val="334155"/>
                </a:solidFill>
                <a:latin typeface="Calibri" pitchFamily="34" charset="0"/>
                <a:ea typeface="Calibri" pitchFamily="34" charset="-122"/>
                <a:cs typeface="Calibri" pitchFamily="34" charset="-120"/>
              </a:rPr>
              <a:t>74 module test · 558+ test case bao phủ agents, API, services, models và pipeline synthesis fast_v2.</a:t>
            </a:r>
            <a:endParaRPr lang="en-US" sz="1200" dirty="0"/>
          </a:p>
        </p:txBody>
      </p:sp>
      <p:sp>
        <p:nvSpPr>
          <p:cNvPr id="17" name="Shape 12"/>
          <p:cNvSpPr/>
          <p:nvPr/>
        </p:nvSpPr>
        <p:spPr>
          <a:xfrm>
            <a:off x="502920" y="4256532"/>
            <a:ext cx="5464912" cy="1915668"/>
          </a:xfrm>
          <a:prstGeom prst="roundRect">
            <a:avLst>
              <a:gd name="adj" fmla="val 4773"/>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18" name="Shape 13"/>
          <p:cNvSpPr/>
          <p:nvPr/>
        </p:nvSpPr>
        <p:spPr>
          <a:xfrm>
            <a:off x="740664" y="4475988"/>
            <a:ext cx="457200" cy="457200"/>
          </a:xfrm>
          <a:prstGeom prst="ellipse">
            <a:avLst/>
          </a:prstGeom>
          <a:solidFill>
            <a:srgbClr val="8B5CF6"/>
          </a:solidFill>
          <a:ln/>
        </p:spPr>
        <p:txBody>
          <a:bodyPr/>
          <a:lstStyle/>
          <a:p>
            <a:endParaRPr lang="en-US"/>
          </a:p>
        </p:txBody>
      </p:sp>
      <p:pic>
        <p:nvPicPr>
          <p:cNvPr id="19" name="Image 3" descr="/home/claude/pptx_build/icons/activity_white.png"/>
          <p:cNvPicPr>
            <a:picLocks noChangeAspect="1"/>
          </p:cNvPicPr>
          <p:nvPr/>
        </p:nvPicPr>
        <p:blipFill>
          <a:blip r:embed="rId6"/>
          <a:stretch>
            <a:fillRect/>
          </a:stretch>
        </p:blipFill>
        <p:spPr>
          <a:xfrm>
            <a:off x="850392" y="4585716"/>
            <a:ext cx="237744" cy="237744"/>
          </a:xfrm>
          <a:prstGeom prst="rect">
            <a:avLst/>
          </a:prstGeom>
          <a:ln/>
        </p:spPr>
      </p:pic>
      <p:sp>
        <p:nvSpPr>
          <p:cNvPr id="20" name="Text 14"/>
          <p:cNvSpPr/>
          <p:nvPr/>
        </p:nvSpPr>
        <p:spPr>
          <a:xfrm>
            <a:off x="1362456" y="4457700"/>
            <a:ext cx="4459072" cy="502920"/>
          </a:xfrm>
          <a:prstGeom prst="rect">
            <a:avLst/>
          </a:prstGeom>
          <a:noFill/>
          <a:ln/>
        </p:spPr>
        <p:txBody>
          <a:bodyPr wrap="square" rtlCol="0" anchor="ctr"/>
          <a:lstStyle/>
          <a:p>
            <a:pPr marL="0" indent="0">
              <a:buNone/>
            </a:pPr>
            <a:r>
              <a:rPr lang="en-US" sz="1550" b="1" dirty="0">
                <a:solidFill>
                  <a:srgbClr val="0F172A"/>
                </a:solidFill>
                <a:latin typeface="Arial" pitchFamily="34" charset="0"/>
                <a:ea typeface="Arial" pitchFamily="34" charset="-122"/>
                <a:cs typeface="Arial" pitchFamily="34" charset="-120"/>
              </a:rPr>
              <a:t>Performance</a:t>
            </a:r>
            <a:endParaRPr lang="en-US" sz="1550" dirty="0"/>
          </a:p>
        </p:txBody>
      </p:sp>
      <p:sp>
        <p:nvSpPr>
          <p:cNvPr id="21" name="Text 15"/>
          <p:cNvSpPr/>
          <p:nvPr/>
        </p:nvSpPr>
        <p:spPr>
          <a:xfrm>
            <a:off x="740664" y="5097780"/>
            <a:ext cx="4989424" cy="955548"/>
          </a:xfrm>
          <a:prstGeom prst="rect">
            <a:avLst/>
          </a:prstGeom>
          <a:noFill/>
          <a:ln/>
        </p:spPr>
        <p:txBody>
          <a:bodyPr wrap="square" rtlCol="0" anchor="ctr"/>
          <a:lstStyle/>
          <a:p>
            <a:pPr marL="0" indent="0">
              <a:lnSpc>
                <a:spcPct val="128000"/>
              </a:lnSpc>
              <a:buNone/>
            </a:pPr>
            <a:r>
              <a:rPr lang="en-US" sz="1200" dirty="0">
                <a:solidFill>
                  <a:srgbClr val="334155"/>
                </a:solidFill>
                <a:latin typeface="Calibri" pitchFamily="34" charset="0"/>
                <a:ea typeface="Calibri" pitchFamily="34" charset="-122"/>
                <a:cs typeface="Calibri" pitchFamily="34" charset="-120"/>
              </a:rPr>
              <a:t>Fast Synthesis v2 giảm 82% thời gian tổng hợp (46.95s → 8.44s, speedup 5.56x); Hybrid Search + Reranker đạt AP 98.55%.</a:t>
            </a:r>
            <a:endParaRPr lang="en-US" sz="1200" dirty="0"/>
          </a:p>
        </p:txBody>
      </p:sp>
      <p:sp>
        <p:nvSpPr>
          <p:cNvPr id="22" name="Shape 16"/>
          <p:cNvSpPr/>
          <p:nvPr/>
        </p:nvSpPr>
        <p:spPr>
          <a:xfrm>
            <a:off x="6223864" y="4256532"/>
            <a:ext cx="5464912" cy="1915668"/>
          </a:xfrm>
          <a:prstGeom prst="roundRect">
            <a:avLst>
              <a:gd name="adj" fmla="val 4773"/>
            </a:avLst>
          </a:prstGeom>
          <a:solidFill>
            <a:srgbClr val="FFFFFF"/>
          </a:solidFill>
          <a:ln/>
          <a:effectLst>
            <a:outerShdw blurRad="127000" dist="38100" dir="5400000" algn="bl" rotWithShape="0">
              <a:srgbClr val="000000">
                <a:alpha val="28000"/>
              </a:srgbClr>
            </a:outerShdw>
          </a:effectLst>
        </p:spPr>
        <p:txBody>
          <a:bodyPr/>
          <a:lstStyle/>
          <a:p>
            <a:endParaRPr lang="en-US"/>
          </a:p>
        </p:txBody>
      </p:sp>
      <p:sp>
        <p:nvSpPr>
          <p:cNvPr id="23" name="Shape 17"/>
          <p:cNvSpPr/>
          <p:nvPr/>
        </p:nvSpPr>
        <p:spPr>
          <a:xfrm>
            <a:off x="6461608" y="4475988"/>
            <a:ext cx="457200" cy="457200"/>
          </a:xfrm>
          <a:prstGeom prst="ellipse">
            <a:avLst/>
          </a:prstGeom>
          <a:solidFill>
            <a:srgbClr val="F59E0B"/>
          </a:solidFill>
          <a:ln/>
        </p:spPr>
        <p:txBody>
          <a:bodyPr/>
          <a:lstStyle/>
          <a:p>
            <a:endParaRPr lang="en-US"/>
          </a:p>
        </p:txBody>
      </p:sp>
      <p:pic>
        <p:nvPicPr>
          <p:cNvPr id="24" name="Image 4" descr="/home/claude/pptx_build/icons/server_white.png"/>
          <p:cNvPicPr>
            <a:picLocks noChangeAspect="1"/>
          </p:cNvPicPr>
          <p:nvPr/>
        </p:nvPicPr>
        <p:blipFill>
          <a:blip r:embed="rId7"/>
          <a:stretch>
            <a:fillRect/>
          </a:stretch>
        </p:blipFill>
        <p:spPr>
          <a:xfrm>
            <a:off x="6571336" y="4585716"/>
            <a:ext cx="237744" cy="237744"/>
          </a:xfrm>
          <a:prstGeom prst="rect">
            <a:avLst/>
          </a:prstGeom>
          <a:ln/>
        </p:spPr>
      </p:pic>
      <p:sp>
        <p:nvSpPr>
          <p:cNvPr id="25" name="Text 18"/>
          <p:cNvSpPr/>
          <p:nvPr/>
        </p:nvSpPr>
        <p:spPr>
          <a:xfrm>
            <a:off x="7083400" y="4457700"/>
            <a:ext cx="4459072" cy="502920"/>
          </a:xfrm>
          <a:prstGeom prst="rect">
            <a:avLst/>
          </a:prstGeom>
          <a:noFill/>
          <a:ln/>
        </p:spPr>
        <p:txBody>
          <a:bodyPr wrap="square" rtlCol="0" anchor="ctr"/>
          <a:lstStyle/>
          <a:p>
            <a:pPr marL="0" indent="0">
              <a:buNone/>
            </a:pPr>
            <a:r>
              <a:rPr lang="en-US" sz="1550" b="1" dirty="0">
                <a:solidFill>
                  <a:srgbClr val="0F172A"/>
                </a:solidFill>
                <a:latin typeface="Arial" pitchFamily="34" charset="0"/>
                <a:ea typeface="Arial" pitchFamily="34" charset="-122"/>
                <a:cs typeface="Arial" pitchFamily="34" charset="-120"/>
              </a:rPr>
              <a:t>DevOps Setup</a:t>
            </a:r>
            <a:endParaRPr lang="en-US" sz="1550" dirty="0"/>
          </a:p>
        </p:txBody>
      </p:sp>
      <p:sp>
        <p:nvSpPr>
          <p:cNvPr id="26" name="Text 19"/>
          <p:cNvSpPr/>
          <p:nvPr/>
        </p:nvSpPr>
        <p:spPr>
          <a:xfrm>
            <a:off x="6461608" y="5097780"/>
            <a:ext cx="4989424" cy="955548"/>
          </a:xfrm>
          <a:prstGeom prst="rect">
            <a:avLst/>
          </a:prstGeom>
          <a:noFill/>
          <a:ln/>
        </p:spPr>
        <p:txBody>
          <a:bodyPr wrap="square" rtlCol="0" anchor="ctr"/>
          <a:lstStyle/>
          <a:p>
            <a:pPr marL="0" indent="0">
              <a:lnSpc>
                <a:spcPct val="128000"/>
              </a:lnSpc>
              <a:buNone/>
            </a:pPr>
            <a:r>
              <a:rPr lang="en-US" sz="1200" dirty="0">
                <a:solidFill>
                  <a:srgbClr val="334155"/>
                </a:solidFill>
                <a:latin typeface="Calibri" pitchFamily="34" charset="0"/>
                <a:ea typeface="Calibri" pitchFamily="34" charset="-122"/>
                <a:cs typeface="Calibri" pitchFamily="34" charset="-120"/>
              </a:rPr>
              <a:t>Docker multi-stage build (non-root user); docker-compose gồm Postgres + Redis + ChromaDB + Celery worker kèm healthcheck; triển khai Render / Supabase / Vercel.</a:t>
            </a:r>
            <a:endParaRPr lang="en-US" sz="1200" dirty="0"/>
          </a:p>
        </p:txBody>
      </p:sp>
      <p:sp>
        <p:nvSpPr>
          <p:cNvPr id="27" name="Text 20"/>
          <p:cNvSpPr/>
          <p:nvPr/>
        </p:nvSpPr>
        <p:spPr>
          <a:xfrm>
            <a:off x="502920" y="6473952"/>
            <a:ext cx="45720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P-165 · AI20K Build Phase, Cohort 3</a:t>
            </a:r>
            <a:endParaRPr lang="en-US" sz="900" dirty="0"/>
          </a:p>
        </p:txBody>
      </p:sp>
      <p:sp>
        <p:nvSpPr>
          <p:cNvPr id="28" name="Text 21"/>
          <p:cNvSpPr/>
          <p:nvPr/>
        </p:nvSpPr>
        <p:spPr>
          <a:xfrm>
            <a:off x="10591495" y="6473952"/>
            <a:ext cx="109728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07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47472"/>
            <a:ext cx="310896" cy="310896"/>
          </a:xfrm>
          <a:prstGeom prst="ellipse">
            <a:avLst/>
          </a:prstGeom>
          <a:solidFill>
            <a:srgbClr val="10B981"/>
          </a:solidFill>
          <a:ln/>
        </p:spPr>
        <p:txBody>
          <a:bodyPr/>
          <a:lstStyle/>
          <a:p>
            <a:endParaRPr lang="en-US"/>
          </a:p>
        </p:txBody>
      </p:sp>
      <p:pic>
        <p:nvPicPr>
          <p:cNvPr id="3" name="Image 0" descr="/home/claude/pptx_build/icons/bookOpen_white.png"/>
          <p:cNvPicPr>
            <a:picLocks noChangeAspect="1"/>
          </p:cNvPicPr>
          <p:nvPr/>
        </p:nvPicPr>
        <p:blipFill>
          <a:blip r:embed="rId3"/>
          <a:stretch>
            <a:fillRect/>
          </a:stretch>
        </p:blipFill>
        <p:spPr>
          <a:xfrm>
            <a:off x="566928" y="411480"/>
            <a:ext cx="182880" cy="182880"/>
          </a:xfrm>
          <a:prstGeom prst="rect">
            <a:avLst/>
          </a:prstGeom>
          <a:ln/>
        </p:spPr>
      </p:pic>
      <p:sp>
        <p:nvSpPr>
          <p:cNvPr id="4" name="Text 1"/>
          <p:cNvSpPr/>
          <p:nvPr/>
        </p:nvSpPr>
        <p:spPr>
          <a:xfrm>
            <a:off x="923544" y="320040"/>
            <a:ext cx="2926080" cy="365760"/>
          </a:xfrm>
          <a:prstGeom prst="rect">
            <a:avLst/>
          </a:prstGeom>
          <a:noFill/>
          <a:ln/>
        </p:spPr>
        <p:txBody>
          <a:bodyPr wrap="square" rtlCol="0" anchor="ctr"/>
          <a:lstStyle/>
          <a:p>
            <a:pPr marL="0" indent="0" algn="l">
              <a:buNone/>
            </a:pPr>
            <a:r>
              <a:rPr lang="en-US" sz="1250" b="1" kern="0" spc="50" dirty="0">
                <a:solidFill>
                  <a:srgbClr val="0F172A"/>
                </a:solidFill>
                <a:latin typeface="Arial" pitchFamily="34" charset="0"/>
                <a:ea typeface="Arial" pitchFamily="34" charset="-122"/>
                <a:cs typeface="Arial" pitchFamily="34" charset="-120"/>
              </a:rPr>
              <a:t>LitReview Agent</a:t>
            </a:r>
            <a:endParaRPr lang="en-US" sz="1250" dirty="0"/>
          </a:p>
        </p:txBody>
      </p:sp>
      <p:sp>
        <p:nvSpPr>
          <p:cNvPr id="5" name="Text 2"/>
          <p:cNvSpPr/>
          <p:nvPr/>
        </p:nvSpPr>
        <p:spPr>
          <a:xfrm>
            <a:off x="502920" y="841248"/>
            <a:ext cx="11185855" cy="292608"/>
          </a:xfrm>
          <a:prstGeom prst="rect">
            <a:avLst/>
          </a:prstGeom>
          <a:noFill/>
          <a:ln/>
        </p:spPr>
        <p:txBody>
          <a:bodyPr wrap="square" rtlCol="0" anchor="ctr"/>
          <a:lstStyle/>
          <a:p>
            <a:pPr marL="0" indent="0" algn="l">
              <a:buNone/>
            </a:pPr>
            <a:r>
              <a:rPr lang="en-US" sz="1250" b="1" kern="0" spc="200" dirty="0">
                <a:solidFill>
                  <a:srgbClr val="10B981"/>
                </a:solidFill>
                <a:latin typeface="Arial" pitchFamily="34" charset="0"/>
                <a:ea typeface="Arial" pitchFamily="34" charset="-122"/>
                <a:cs typeface="Arial" pitchFamily="34" charset="-120"/>
              </a:rPr>
              <a:t>VIDEO DEMO</a:t>
            </a:r>
            <a:endParaRPr lang="en-US" sz="1250" dirty="0"/>
          </a:p>
        </p:txBody>
      </p:sp>
      <p:sp>
        <p:nvSpPr>
          <p:cNvPr id="6" name="Text 3"/>
          <p:cNvSpPr/>
          <p:nvPr/>
        </p:nvSpPr>
        <p:spPr>
          <a:xfrm>
            <a:off x="502920" y="1152144"/>
            <a:ext cx="11185855" cy="777240"/>
          </a:xfrm>
          <a:prstGeom prst="rect">
            <a:avLst/>
          </a:prstGeom>
          <a:noFill/>
          <a:ln/>
        </p:spPr>
        <p:txBody>
          <a:bodyPr wrap="square" rtlCol="0" anchor="t"/>
          <a:lstStyle/>
          <a:p>
            <a:pPr marL="0" indent="0" algn="l">
              <a:lnSpc>
                <a:spcPct val="105000"/>
              </a:lnSpc>
              <a:buNone/>
            </a:pPr>
            <a:r>
              <a:rPr lang="en-US" sz="2700" b="1" dirty="0">
                <a:solidFill>
                  <a:srgbClr val="0F172A"/>
                </a:solidFill>
                <a:latin typeface="Arial" pitchFamily="34" charset="0"/>
                <a:ea typeface="Arial" pitchFamily="34" charset="-122"/>
                <a:cs typeface="Arial" pitchFamily="34" charset="-120"/>
              </a:rPr>
              <a:t>Xem LitReview Agent hoạt động thực tế</a:t>
            </a:r>
            <a:endParaRPr lang="en-US" sz="2700" dirty="0"/>
          </a:p>
        </p:txBody>
      </p:sp>
      <p:sp>
        <p:nvSpPr>
          <p:cNvPr id="7" name="Shape 4"/>
          <p:cNvSpPr/>
          <p:nvPr/>
        </p:nvSpPr>
        <p:spPr>
          <a:xfrm>
            <a:off x="502920" y="2176272"/>
            <a:ext cx="11185855" cy="3721608"/>
          </a:xfrm>
          <a:prstGeom prst="roundRect">
            <a:avLst>
              <a:gd name="adj" fmla="val 3931"/>
            </a:avLst>
          </a:prstGeom>
          <a:solidFill>
            <a:srgbClr val="FFFFFF"/>
          </a:solidFill>
          <a:ln w="19050">
            <a:solidFill>
              <a:srgbClr val="94A3B8"/>
            </a:solidFill>
            <a:prstDash val="dash"/>
          </a:ln>
        </p:spPr>
        <p:txBody>
          <a:bodyPr/>
          <a:lstStyle/>
          <a:p>
            <a:endParaRPr lang="en-US"/>
          </a:p>
        </p:txBody>
      </p:sp>
      <p:sp>
        <p:nvSpPr>
          <p:cNvPr id="8" name="Shape 5"/>
          <p:cNvSpPr/>
          <p:nvPr/>
        </p:nvSpPr>
        <p:spPr>
          <a:xfrm>
            <a:off x="5684368" y="3259836"/>
            <a:ext cx="822960" cy="822960"/>
          </a:xfrm>
          <a:prstGeom prst="ellipse">
            <a:avLst/>
          </a:prstGeom>
          <a:solidFill>
            <a:srgbClr val="10B981"/>
          </a:solidFill>
          <a:ln/>
        </p:spPr>
        <p:txBody>
          <a:bodyPr/>
          <a:lstStyle/>
          <a:p>
            <a:endParaRPr lang="en-US"/>
          </a:p>
        </p:txBody>
      </p:sp>
      <p:pic>
        <p:nvPicPr>
          <p:cNvPr id="9" name="Image 1" descr="/home/claude/pptx_build/icons/playCircle_white.png"/>
          <p:cNvPicPr>
            <a:picLocks noChangeAspect="1"/>
          </p:cNvPicPr>
          <p:nvPr/>
        </p:nvPicPr>
        <p:blipFill>
          <a:blip r:embed="rId4"/>
          <a:stretch>
            <a:fillRect/>
          </a:stretch>
        </p:blipFill>
        <p:spPr>
          <a:xfrm>
            <a:off x="5881878" y="3457346"/>
            <a:ext cx="427939" cy="427939"/>
          </a:xfrm>
          <a:prstGeom prst="rect">
            <a:avLst/>
          </a:prstGeom>
          <a:ln/>
        </p:spPr>
      </p:pic>
      <p:sp>
        <p:nvSpPr>
          <p:cNvPr id="10" name="Text 6"/>
          <p:cNvSpPr/>
          <p:nvPr/>
        </p:nvSpPr>
        <p:spPr>
          <a:xfrm>
            <a:off x="960120" y="4174236"/>
            <a:ext cx="10271455" cy="365760"/>
          </a:xfrm>
          <a:prstGeom prst="rect">
            <a:avLst/>
          </a:prstGeom>
          <a:noFill/>
          <a:ln/>
        </p:spPr>
        <p:txBody>
          <a:bodyPr wrap="square" rtlCol="0" anchor="ctr"/>
          <a:lstStyle/>
          <a:p>
            <a:pPr marL="0" indent="0" algn="ctr">
              <a:buNone/>
            </a:pPr>
            <a:r>
              <a:rPr lang="en-US" sz="1500" b="1" dirty="0">
                <a:solidFill>
                  <a:srgbClr val="0F172A"/>
                </a:solidFill>
                <a:latin typeface="Arial" pitchFamily="34" charset="0"/>
                <a:ea typeface="Arial" pitchFamily="34" charset="-122"/>
                <a:cs typeface="Arial" pitchFamily="34" charset="-120"/>
              </a:rPr>
              <a:t>Dán link video hoặc chèn QR code YouTube tại đây</a:t>
            </a:r>
            <a:endParaRPr lang="en-US" sz="1500" dirty="0"/>
          </a:p>
        </p:txBody>
      </p:sp>
      <p:sp>
        <p:nvSpPr>
          <p:cNvPr id="11" name="Text 7"/>
          <p:cNvSpPr/>
          <p:nvPr/>
        </p:nvSpPr>
        <p:spPr>
          <a:xfrm>
            <a:off x="960120" y="4549140"/>
            <a:ext cx="10271455" cy="292608"/>
          </a:xfrm>
          <a:prstGeom prst="rect">
            <a:avLst/>
          </a:prstGeom>
          <a:noFill/>
          <a:ln/>
        </p:spPr>
        <p:txBody>
          <a:bodyPr wrap="square" rtlCol="0" anchor="ctr"/>
          <a:lstStyle/>
          <a:p>
            <a:pPr marL="0" indent="0" algn="ctr">
              <a:buNone/>
            </a:pPr>
            <a:r>
              <a:rPr lang="en-US" sz="1150" i="1" dirty="0">
                <a:solidFill>
                  <a:srgbClr val="64748B"/>
                </a:solidFill>
                <a:latin typeface="Calibri" pitchFamily="34" charset="0"/>
                <a:ea typeface="Calibri" pitchFamily="34" charset="-122"/>
                <a:cs typeface="Calibri" pitchFamily="34" charset="-120"/>
              </a:rPr>
              <a:t>( placeholder — nhóm tự điền link / QR code )</a:t>
            </a:r>
            <a:endParaRPr lang="en-US" sz="1150" dirty="0"/>
          </a:p>
        </p:txBody>
      </p:sp>
      <p:sp>
        <p:nvSpPr>
          <p:cNvPr id="12" name="Text 8"/>
          <p:cNvSpPr/>
          <p:nvPr/>
        </p:nvSpPr>
        <p:spPr>
          <a:xfrm>
            <a:off x="502920" y="6099048"/>
            <a:ext cx="11185855" cy="365760"/>
          </a:xfrm>
          <a:prstGeom prst="rect">
            <a:avLst/>
          </a:prstGeom>
          <a:noFill/>
          <a:ln/>
        </p:spPr>
        <p:txBody>
          <a:bodyPr wrap="square" rtlCol="0" anchor="ctr"/>
          <a:lstStyle/>
          <a:p>
            <a:pPr marL="0" indent="0" algn="ctr">
              <a:buNone/>
            </a:pPr>
            <a:r>
              <a:rPr lang="en-US" sz="1250" dirty="0">
                <a:solidFill>
                  <a:srgbClr val="64748B"/>
                </a:solidFill>
                <a:latin typeface="Calibri" pitchFamily="34" charset="0"/>
                <a:ea typeface="Calibri" pitchFamily="34" charset="-122"/>
                <a:cs typeface="Calibri" pitchFamily="34" charset="-120"/>
              </a:rPr>
              <a:t>2–3 phút trình diễn use case chính: Search &amp; Verify → AI Screening → RAG Chat &amp; Synthesis.</a:t>
            </a:r>
            <a:endParaRPr lang="en-US" sz="1250" dirty="0"/>
          </a:p>
        </p:txBody>
      </p:sp>
      <p:sp>
        <p:nvSpPr>
          <p:cNvPr id="13" name="Text 9"/>
          <p:cNvSpPr/>
          <p:nvPr/>
        </p:nvSpPr>
        <p:spPr>
          <a:xfrm>
            <a:off x="502920" y="6473952"/>
            <a:ext cx="45720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P-165 · AI20K Build Phase, Cohort 3</a:t>
            </a:r>
            <a:endParaRPr lang="en-US" sz="900" dirty="0"/>
          </a:p>
        </p:txBody>
      </p:sp>
      <p:sp>
        <p:nvSpPr>
          <p:cNvPr id="14" name="Text 10"/>
          <p:cNvSpPr/>
          <p:nvPr/>
        </p:nvSpPr>
        <p:spPr>
          <a:xfrm>
            <a:off x="10591495" y="6473952"/>
            <a:ext cx="109728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08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1055</Words>
  <Application>Microsoft Office PowerPoint</Application>
  <PresentationFormat>Widescreen</PresentationFormat>
  <Paragraphs>127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AI20K Build Phase - Cohort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LitReview Agent - Demo Day</dc:title>
  <dc:subject>PptxGenJS Presentation</dc:subject>
  <dc:creator>LitReview Agent Team (P-165)</dc:creator>
  <cp:lastModifiedBy>Nguyen Dao Nam Hai 20235321</cp:lastModifiedBy>
  <cp:revision>3</cp:revision>
  <dcterms:created xsi:type="dcterms:W3CDTF">2026-08-26T03:16:24Z</dcterms:created>
  <dcterms:modified xsi:type="dcterms:W3CDTF">2026-08-29T13:44:11Z</dcterms:modified>
</cp:coreProperties>
</file>